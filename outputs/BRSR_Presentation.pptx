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bar"/>
        <c:grouping val="clustered"/>
        <c:varyColors val="0"/>
        <c:ser>
          <c:idx val="0"/>
          <c:order val="0"/>
          <c:tx>
            <c:strRef>
              <c:f>Sheet1!$B$1</c:f>
              <c:strCache>
                <c:ptCount val="1"/>
                <c:pt idx="0">
                  <c:v>GRS</c:v>
                </c:pt>
              </c:strCache>
            </c:strRef>
          </c:tx>
          <c:spPr>
            <a:solidFill>
              <a:srgbClr val="E5534B"/>
            </a:solidFill>
            <a:effectLst/>
          </c:spPr>
          <c:invertIfNegative val="0"/>
          <c:dLbls>
            <c:numFmt formatCode="#,##0" sourceLinked="0"/>
            <c:txPr>
              <a:bodyPr/>
              <a:lstStyle/>
              <a:p>
                <a:pPr>
                  <a:defRPr b="0" i="0" strike="noStrike" sz="900" u="none">
                    <a:solidFill>
                      <a:srgbClr val="2D3F51"/>
                    </a:solidFill>
                    <a:latin typeface="Arial"/>
                  </a:defRPr>
                </a:pPr>
              </a:p>
            </c:txPr>
            <c:showLegendKey val="0"/>
            <c:showVal val="1"/>
            <c:showCatName val="0"/>
            <c:showSerName val="0"/>
            <c:showPercent val="0"/>
            <c:showBubbleSize val="0"/>
            <c:showLeaderLines val="0"/>
          </c:dLbls>
          <c:dPt>
            <c:idx val="0"/>
            <c:invertIfNegative val="0"/>
            <c:bubble3D val="0"/>
            <c:spPr>
              <a:solidFill>
                <a:srgbClr val="E5534B"/>
              </a:solidFill>
              <a:effectLst/>
            </c:spPr>
          </c:dPt>
          <c:dPt>
            <c:idx val="1"/>
            <c:invertIfNegative val="0"/>
            <c:bubble3D val="0"/>
            <c:spPr>
              <a:solidFill>
                <a:srgbClr val="E5534B"/>
              </a:solidFill>
              <a:effectLst/>
            </c:spPr>
          </c:dPt>
          <c:dPt>
            <c:idx val="2"/>
            <c:invertIfNegative val="0"/>
            <c:bubble3D val="0"/>
            <c:spPr>
              <a:solidFill>
                <a:srgbClr val="E5534B"/>
              </a:solidFill>
              <a:effectLst/>
            </c:spPr>
          </c:dPt>
          <c:dPt>
            <c:idx val="3"/>
            <c:invertIfNegative val="0"/>
            <c:bubble3D val="0"/>
            <c:spPr>
              <a:solidFill>
                <a:srgbClr val="E5534B"/>
              </a:solidFill>
              <a:effectLst/>
            </c:spPr>
          </c:dPt>
          <c:dPt>
            <c:idx val="4"/>
            <c:invertIfNegative val="0"/>
            <c:bubble3D val="0"/>
            <c:spPr>
              <a:solidFill>
                <a:srgbClr val="E5534B"/>
              </a:solidFill>
              <a:effectLst/>
            </c:spPr>
          </c:dPt>
          <c:dPt>
            <c:idx val="5"/>
            <c:invertIfNegative val="0"/>
            <c:bubble3D val="0"/>
            <c:spPr>
              <a:solidFill>
                <a:srgbClr val="E5534B"/>
              </a:solidFill>
              <a:effectLst/>
            </c:spPr>
          </c:dPt>
          <c:dPt>
            <c:idx val="6"/>
            <c:invertIfNegative val="0"/>
            <c:bubble3D val="0"/>
            <c:spPr>
              <a:solidFill>
                <a:srgbClr val="F0A500"/>
              </a:solidFill>
              <a:effectLst/>
            </c:spPr>
          </c:dPt>
          <c:dPt>
            <c:idx val="7"/>
            <c:invertIfNegative val="0"/>
            <c:bubble3D val="0"/>
            <c:spPr>
              <a:solidFill>
                <a:srgbClr val="F0A500"/>
              </a:solidFill>
              <a:effectLst/>
            </c:spPr>
          </c:dPt>
          <c:dPt>
            <c:idx val="8"/>
            <c:invertIfNegative val="0"/>
            <c:bubble3D val="0"/>
            <c:spPr>
              <a:solidFill>
                <a:srgbClr val="F0A500"/>
              </a:solidFill>
              <a:effectLst/>
            </c:spPr>
          </c:dPt>
          <c:dPt>
            <c:idx val="9"/>
            <c:invertIfNegative val="0"/>
            <c:bubble3D val="0"/>
            <c:spPr>
              <a:solidFill>
                <a:srgbClr val="F0A500"/>
              </a:solidFill>
              <a:effectLst/>
            </c:spPr>
          </c:dPt>
          <c:dPt>
            <c:idx val="10"/>
            <c:invertIfNegative val="0"/>
            <c:bubble3D val="0"/>
            <c:spPr>
              <a:solidFill>
                <a:srgbClr val="F0A500"/>
              </a:solidFill>
              <a:effectLst/>
            </c:spPr>
          </c:dPt>
          <c:dPt>
            <c:idx val="11"/>
            <c:invertIfNegative val="0"/>
            <c:bubble3D val="0"/>
            <c:spPr>
              <a:solidFill>
                <a:srgbClr val="F0A500"/>
              </a:solidFill>
              <a:effectLst/>
            </c:spPr>
          </c:dPt>
          <c:dPt>
            <c:idx val="12"/>
            <c:invertIfNegative val="0"/>
            <c:bubble3D val="0"/>
            <c:spPr>
              <a:solidFill>
                <a:srgbClr val="F0A500"/>
              </a:solidFill>
              <a:effectLst/>
            </c:spPr>
          </c:dPt>
          <c:dPt>
            <c:idx val="13"/>
            <c:invertIfNegative val="0"/>
            <c:bubble3D val="0"/>
            <c:spPr>
              <a:solidFill>
                <a:srgbClr val="F0A500"/>
              </a:solidFill>
              <a:effectLst/>
            </c:spPr>
          </c:dPt>
          <c:dPt>
            <c:idx val="14"/>
            <c:invertIfNegative val="0"/>
            <c:bubble3D val="0"/>
            <c:spPr>
              <a:solidFill>
                <a:srgbClr val="F0A500"/>
              </a:solidFill>
              <a:effectLst/>
            </c:spPr>
          </c:dPt>
          <c:cat>
            <c:multiLvlStrRef>
              <c:f>Sheet1!$A$2:$A$16</c:f>
              <c:multiLvlStrCache>
                <c:ptCount val="15"/>
                <c:lvl>
                  <c:pt idx="0">
                    <c:v>UltraTech Cement</c:v>
                  </c:pt>
                  <c:pt idx="1">
                    <c:v>Cipla</c:v>
                  </c:pt>
                  <c:pt idx="2">
                    <c:v>Tata Steel</c:v>
                  </c:pt>
                  <c:pt idx="3">
                    <c:v>Sun Pharma</c:v>
                  </c:pt>
                  <c:pt idx="4">
                    <c:v>HDFC Bank</c:v>
                  </c:pt>
                  <c:pt idx="5">
                    <c:v>Infosys</c:v>
                  </c:pt>
                  <c:pt idx="6">
                    <c:v>Ambuja Cements</c:v>
                  </c:pt>
                  <c:pt idx="7">
                    <c:v>SBI</c:v>
                  </c:pt>
                  <c:pt idx="8">
                    <c:v>Dr. Reddy's</c:v>
                  </c:pt>
                  <c:pt idx="9">
                    <c:v>TCS</c:v>
                  </c:pt>
                  <c:pt idx="10">
                    <c:v>M&amp;M</c:v>
                  </c:pt>
                  <c:pt idx="11">
                    <c:v>Tata Motors</c:v>
                  </c:pt>
                  <c:pt idx="12">
                    <c:v>Maruti Suzuki</c:v>
                  </c:pt>
                  <c:pt idx="13">
                    <c:v>Wipro</c:v>
                  </c:pt>
                  <c:pt idx="14">
                    <c:v>ICICI Bank</c:v>
                  </c:pt>
                </c:lvl>
              </c:multiLvlStrCache>
            </c:multiLvlStrRef>
          </c:cat>
          <c:val>
            <c:numRef>
              <c:f>Sheet1!$B$2:$B$16</c:f>
              <c:numCache>
                <c:formatCode>General</c:formatCode>
                <c:ptCount val="15"/>
                <c:pt idx="0">
                  <c:v>77.8</c:v>
                </c:pt>
                <c:pt idx="1">
                  <c:v>77.6</c:v>
                </c:pt>
                <c:pt idx="2">
                  <c:v>72.5</c:v>
                </c:pt>
                <c:pt idx="3">
                  <c:v>67.5</c:v>
                </c:pt>
                <c:pt idx="4">
                  <c:v>65</c:v>
                </c:pt>
                <c:pt idx="5">
                  <c:v>64</c:v>
                </c:pt>
                <c:pt idx="6">
                  <c:v>56.1</c:v>
                </c:pt>
                <c:pt idx="7">
                  <c:v>53.6</c:v>
                </c:pt>
                <c:pt idx="8">
                  <c:v>53.2</c:v>
                </c:pt>
                <c:pt idx="9">
                  <c:v>52.4</c:v>
                </c:pt>
                <c:pt idx="10">
                  <c:v>49.3</c:v>
                </c:pt>
                <c:pt idx="11">
                  <c:v>48.9</c:v>
                </c:pt>
                <c:pt idx="12">
                  <c:v>46.3</c:v>
                </c:pt>
                <c:pt idx="13">
                  <c:v>43.9</c:v>
                </c:pt>
                <c:pt idx="14">
                  <c:v>33.6</c:v>
                </c:pt>
              </c:numCache>
            </c:numRef>
          </c:val>
        </c:ser>
        <c:dLbls>
          <c:numFmt formatCode="#,##0" sourceLinked="0"/>
          <c:txPr>
            <a:bodyPr/>
            <a:lstStyle/>
            <a:p>
              <a:pPr>
                <a:defRPr b="0" i="0" strike="noStrike" sz="900" u="none">
                  <a:solidFill>
                    <a:srgbClr val="2D3F5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2D3F51"/>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E2EBF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7B9BB8"/>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5F8FB"/>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Mean GRS</c:v>
                </c:pt>
              </c:strCache>
            </c:strRef>
          </c:tx>
          <c:spPr>
            <a:solidFill>
              <a:srgbClr val="EF4444"/>
            </a:solidFill>
            <a:effectLst/>
          </c:spPr>
          <c:invertIfNegative val="0"/>
          <c:dLbls>
            <c:numFmt formatCode="#,##0" sourceLinked="0"/>
            <c:txPr>
              <a:bodyPr/>
              <a:lstStyle/>
              <a:p>
                <a:pPr>
                  <a:defRPr b="0" i="0" strike="noStrike" sz="1000" u="none">
                    <a:solidFill>
                      <a:srgbClr val="2D3F51"/>
                    </a:solidFill>
                    <a:latin typeface="Arial"/>
                  </a:defRPr>
                </a:pPr>
              </a:p>
            </c:txPr>
            <c:showLegendKey val="0"/>
            <c:showVal val="1"/>
            <c:showCatName val="0"/>
            <c:showSerName val="0"/>
            <c:showPercent val="0"/>
            <c:showBubbleSize val="0"/>
            <c:showLeaderLines val="0"/>
          </c:dLbls>
          <c:dPt>
            <c:idx val="0"/>
            <c:invertIfNegative val="0"/>
            <c:bubble3D val="0"/>
            <c:spPr>
              <a:solidFill>
                <a:srgbClr val="EF4444"/>
              </a:solidFill>
              <a:effectLst/>
            </c:spPr>
          </c:dPt>
          <c:dPt>
            <c:idx val="1"/>
            <c:invertIfNegative val="0"/>
            <c:bubble3D val="0"/>
            <c:spPr>
              <a:solidFill>
                <a:srgbClr val="F59E0B"/>
              </a:solidFill>
              <a:effectLst/>
            </c:spPr>
          </c:dPt>
          <c:dPt>
            <c:idx val="2"/>
            <c:invertIfNegative val="0"/>
            <c:bubble3D val="0"/>
            <c:spPr>
              <a:solidFill>
                <a:srgbClr val="A855F7"/>
              </a:solidFill>
              <a:effectLst/>
            </c:spPr>
          </c:dPt>
          <c:dPt>
            <c:idx val="3"/>
            <c:invertIfNegative val="0"/>
            <c:bubble3D val="0"/>
            <c:spPr>
              <a:solidFill>
                <a:srgbClr val="3B82F6"/>
              </a:solidFill>
              <a:effectLst/>
            </c:spPr>
          </c:dPt>
          <c:dPt>
            <c:idx val="4"/>
            <c:invertIfNegative val="0"/>
            <c:bubble3D val="0"/>
            <c:spPr>
              <a:solidFill>
                <a:srgbClr val="06D6A0"/>
              </a:solidFill>
              <a:effectLst/>
            </c:spPr>
          </c:dPt>
          <c:dPt>
            <c:idx val="5"/>
            <c:invertIfNegative val="0"/>
            <c:bubble3D val="0"/>
            <c:spPr>
              <a:solidFill>
                <a:srgbClr val="F97316"/>
              </a:solidFill>
              <a:effectLst/>
            </c:spPr>
          </c:dPt>
          <c:cat>
            <c:multiLvlStrRef>
              <c:f>Sheet1!$A$2:$A$7</c:f>
              <c:multiLvlStrCache>
                <c:ptCount val="6"/>
                <c:lvl>
                  <c:pt idx="0">
                    <c:v>Heavy Industry</c:v>
                  </c:pt>
                  <c:pt idx="1">
                    <c:v>Cement</c:v>
                  </c:pt>
                  <c:pt idx="2">
                    <c:v>Pharma</c:v>
                  </c:pt>
                  <c:pt idx="3">
                    <c:v>IT</c:v>
                  </c:pt>
                  <c:pt idx="4">
                    <c:v>Banking</c:v>
                  </c:pt>
                  <c:pt idx="5">
                    <c:v>Auto</c:v>
                  </c:pt>
                </c:lvl>
              </c:multiLvlStrCache>
            </c:multiLvlStrRef>
          </c:cat>
          <c:val>
            <c:numRef>
              <c:f>Sheet1!$B$2:$B$7</c:f>
              <c:numCache>
                <c:formatCode>General</c:formatCode>
                <c:ptCount val="6"/>
                <c:pt idx="0">
                  <c:v>72.5</c:v>
                </c:pt>
                <c:pt idx="1">
                  <c:v>67</c:v>
                </c:pt>
                <c:pt idx="2">
                  <c:v>66.1</c:v>
                </c:pt>
                <c:pt idx="3">
                  <c:v>53.4</c:v>
                </c:pt>
                <c:pt idx="4">
                  <c:v>50.7</c:v>
                </c:pt>
                <c:pt idx="5">
                  <c:v>48.2</c:v>
                </c:pt>
              </c:numCache>
            </c:numRef>
          </c:val>
        </c:ser>
        <c:dLbls>
          <c:numFmt formatCode="#,##0" sourceLinked="0"/>
          <c:txPr>
            <a:bodyPr/>
            <a:lstStyle/>
            <a:p>
              <a:pPr>
                <a:defRPr b="0" i="0" strike="noStrike" sz="1000" u="none">
                  <a:solidFill>
                    <a:srgbClr val="2D3F5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D3F51"/>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E2EBF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5F8FB"/>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GRS</c:v>
                </c:pt>
              </c:strCache>
            </c:strRef>
          </c:tx>
          <c:spPr>
            <a:solidFill>
              <a:srgbClr val="3B82F6"/>
            </a:solidFill>
            <a:ln w="12700" cap="flat">
              <a:solidFill>
                <a:srgbClr val="3B82F6"/>
              </a:solidFill>
              <a:prstDash val="solid"/>
              <a:round/>
            </a:ln>
            <a:effectLst/>
          </c:spPr>
          <c:marker>
            <c:symbol val="circle"/>
            <c:size val="6"/>
            <c:spPr>
              <a:solidFill>
                <a:srgbClr val="3B82F6"/>
              </a:solidFill>
              <a:ln w="9525" cap="flat">
                <a:solidFill>
                  <a:srgbClr val="3B82F6"/>
                </a:solidFill>
                <a:prstDash val="solid"/>
                <a:round/>
              </a:ln>
              <a:effectLst/>
            </c:spPr>
          </c:marker>
          <c:xVal>
            <c:numRef>
              <c:f>Sheet1!$A$2:$A$16</c:f>
              <c:numCache>
                <c:formatCode>General</c:formatCode>
                <c:ptCount val="15"/>
                <c:pt idx="0">
                  <c:v>0.066</c:v>
                </c:pt>
                <c:pt idx="1">
                  <c:v>0.125</c:v>
                </c:pt>
                <c:pt idx="2">
                  <c:v>0.111</c:v>
                </c:pt>
                <c:pt idx="3">
                  <c:v>0.286</c:v>
                </c:pt>
                <c:pt idx="4">
                  <c:v>0</c:v>
                </c:pt>
                <c:pt idx="5">
                  <c:v>0.077</c:v>
                </c:pt>
                <c:pt idx="6">
                  <c:v>0.059</c:v>
                </c:pt>
                <c:pt idx="7">
                  <c:v>0</c:v>
                </c:pt>
                <c:pt idx="8">
                  <c:v>0</c:v>
                </c:pt>
                <c:pt idx="9">
                  <c:v>0.059</c:v>
                </c:pt>
                <c:pt idx="10">
                  <c:v>0</c:v>
                </c:pt>
                <c:pt idx="11">
                  <c:v>0.2</c:v>
                </c:pt>
                <c:pt idx="12">
                  <c:v>0.091</c:v>
                </c:pt>
                <c:pt idx="13">
                  <c:v>0.167</c:v>
                </c:pt>
                <c:pt idx="14">
                  <c:v>0.091</c:v>
                </c:pt>
              </c:numCache>
            </c:numRef>
          </c:xVal>
          <c:yVal>
            <c:numRef>
              <c:f>Sheet1!$B$2:$B$16</c:f>
              <c:numCache>
                <c:formatCode>General</c:formatCode>
                <c:ptCount val="15"/>
                <c:pt idx="0">
                  <c:v>64</c:v>
                </c:pt>
                <c:pt idx="1">
                  <c:v>52.4</c:v>
                </c:pt>
                <c:pt idx="2">
                  <c:v>43.9</c:v>
                </c:pt>
                <c:pt idx="3">
                  <c:v>33.6</c:v>
                </c:pt>
                <c:pt idx="4">
                  <c:v>65</c:v>
                </c:pt>
                <c:pt idx="5">
                  <c:v>53.6</c:v>
                </c:pt>
                <c:pt idx="6">
                  <c:v>77.8</c:v>
                </c:pt>
                <c:pt idx="7">
                  <c:v>56.1</c:v>
                </c:pt>
                <c:pt idx="8">
                  <c:v>72.5</c:v>
                </c:pt>
                <c:pt idx="9">
                  <c:v>77.6</c:v>
                </c:pt>
                <c:pt idx="10">
                  <c:v>67.5</c:v>
                </c:pt>
                <c:pt idx="11">
                  <c:v>53.2</c:v>
                </c:pt>
                <c:pt idx="12">
                  <c:v>48.9</c:v>
                </c:pt>
                <c:pt idx="13">
                  <c:v>46.3</c:v>
                </c:pt>
                <c:pt idx="14">
                  <c:v>49.3</c:v>
                </c:pt>
              </c:numCache>
            </c:numRef>
          </c:yVal>
          <c:smooth val="0"/>
        </c:ser>
        <c:ser>
          <c:idx val="1"/>
          <c:order val="1"/>
          <c:tx>
            <c:strRef>
              <c:f>Sheet1!$C$1</c:f>
              <c:strCache>
                <c:ptCount val="1"/>
                <c:pt idx="0">
                  <c:v>Trend</c:v>
                </c:pt>
              </c:strCache>
            </c:strRef>
          </c:tx>
          <c:spPr>
            <a:solidFill>
              <a:srgbClr val="06D6A0"/>
            </a:solidFill>
            <a:ln w="12700" cap="flat">
              <a:solidFill>
                <a:srgbClr val="06D6A0"/>
              </a:solidFill>
              <a:prstDash val="solid"/>
              <a:round/>
            </a:ln>
            <a:effectLst/>
          </c:spPr>
          <c:marker>
            <c:symbol val="circle"/>
            <c:size val="6"/>
            <c:spPr>
              <a:solidFill>
                <a:srgbClr val="06D6A0"/>
              </a:solidFill>
              <a:ln w="9525" cap="flat">
                <a:solidFill>
                  <a:srgbClr val="06D6A0"/>
                </a:solidFill>
                <a:prstDash val="solid"/>
                <a:round/>
              </a:ln>
              <a:effectLst/>
            </c:spPr>
          </c:marker>
          <c:xVal>
            <c:numRef>
              <c:f>Sheet1!$A$2:$A$16</c:f>
              <c:numCache>
                <c:formatCode>General</c:formatCode>
                <c:ptCount val="15"/>
                <c:pt idx="0">
                  <c:v>0.066</c:v>
                </c:pt>
                <c:pt idx="1">
                  <c:v>0.125</c:v>
                </c:pt>
                <c:pt idx="2">
                  <c:v>0.111</c:v>
                </c:pt>
                <c:pt idx="3">
                  <c:v>0.286</c:v>
                </c:pt>
                <c:pt idx="4">
                  <c:v>0</c:v>
                </c:pt>
                <c:pt idx="5">
                  <c:v>0.077</c:v>
                </c:pt>
                <c:pt idx="6">
                  <c:v>0.059</c:v>
                </c:pt>
                <c:pt idx="7">
                  <c:v>0</c:v>
                </c:pt>
                <c:pt idx="8">
                  <c:v>0</c:v>
                </c:pt>
                <c:pt idx="9">
                  <c:v>0.059</c:v>
                </c:pt>
                <c:pt idx="10">
                  <c:v>0</c:v>
                </c:pt>
                <c:pt idx="11">
                  <c:v>0.2</c:v>
                </c:pt>
                <c:pt idx="12">
                  <c:v>0.091</c:v>
                </c:pt>
                <c:pt idx="13">
                  <c:v>0.167</c:v>
                </c:pt>
                <c:pt idx="14">
                  <c:v>0.091</c:v>
                </c:pt>
              </c:numCache>
            </c:numRef>
          </c:xVal>
          <c:yVal>
            <c:numRef>
              <c:f>Sheet1!$C$2:$C$16</c:f>
              <c:numCache>
                <c:formatCode>General</c:formatCode>
                <c:ptCount val="15"/>
                <c:pt idx="0">
                  <c:v>67.60637709535585</c:v>
                </c:pt>
                <c:pt idx="1">
                  <c:v>61.88581942154437</c:v>
                </c:pt>
                <c:pt idx="2">
                  <c:v>56.16526174773289</c:v>
                </c:pt>
                <c:pt idx="3">
                  <c:v>50.444704073921415</c:v>
                </c:pt>
                <c:pt idx="4">
                  <c:v>44.72414640010993</c:v>
                </c:pt>
                <c:pt idx="5">
                  <c:v>39.003588726298446</c:v>
                </c:pt>
                <c:pt idx="6">
                  <c:v>33.28303105248697</c:v>
                </c:pt>
                <c:pt idx="7">
                  <c:v/>
                </c:pt>
                <c:pt idx="8">
                  <c:v/>
                </c:pt>
                <c:pt idx="9">
                  <c:v/>
                </c:pt>
                <c:pt idx="10">
                  <c:v/>
                </c:pt>
                <c:pt idx="11">
                  <c:v/>
                </c:pt>
                <c:pt idx="12">
                  <c:v/>
                </c:pt>
                <c:pt idx="13">
                  <c:v/>
                </c:pt>
                <c:pt idx="14">
                  <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0.35"/>
          <c:min val="0"/>
        </c:scaling>
        <c:delete val="0"/>
        <c:axPos val="b"/>
        <c:majorGridlines>
          <c:spPr>
            <a:ln w="6350" cap="flat">
              <a:solidFill>
                <a:srgbClr val="E2EBF3"/>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Specificity Ratio (SR)</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valAx>
      <c:valAx>
        <c:axId val="2094734552"/>
        <c:scaling>
          <c:orientation val="minMax"/>
          <c:max val="100"/>
          <c:min val="0"/>
        </c:scaling>
        <c:delete val="0"/>
        <c:axPos val="l"/>
        <c:majorGridlines>
          <c:spPr>
            <a:ln w="6350" cap="flat">
              <a:solidFill>
                <a:srgbClr val="E2EBF3"/>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Greenwashing Risk Score</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solidFill>
      <a:srgbClr val="F5F8FB"/>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'Every sustainability report claims to be green. This project asks how you know whether to believe them.' Pause 3 seconds. Then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BRSR compliance requires filing — it does NOT require that the claims be specific, quantified, or verifiable. That gap is what this project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only 15: this corpus demonstrates the pipeline. The same code runs on 100 or 1,000 filers — NSE lists all BRSR filings publicly. Corpus design choice, not a technical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weights are theoretically motivated, not fitted to labelled data — honestly say this if asked. There is no labelled BRSR greenwashing dataset in the public domain. Future work: if one is created, use logistic regression or random forest to fit weights empirically.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most headline-worthy finding. Pause here. Let it land. Then say: 'This doesn't mean every company is greenwashing. It means the language of these reports — even from companies with genuine ESG programmes — is structured in a way that makes independent verification difficult.'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top 3 (UltraTech, Cipla, Tata Steel) and explain WHY each scored high. Then explain the Infosys anomaly (HIGH despite strong ESG programme — long narrative extract dilutes SR). This shows you understand the method's limitations, which is impressive.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ready for: 'Doesn't Tata Steel have a massive decarbonisation plan?' Answer: Yes — the UK and Netherlands EAF transition is real. But the BRSR narrative text, which is what investors read first, still scores near-zero on specificity in our extract. That gap between ambition and textual verifiability is exactly the greenwashing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Pearson r of -0.725 is the most quotable statistic in the project. If an interviewer asks 'how did you validate your GRS?' — point to this. SR alone explains 52.5% of the variance in GRS (r²=0.526). The composite score adds AVVR, BD, and LM_neg for the remaining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LDA: 5 topics, sklearn, k=5, online learning, unigrams + bigrams, 300 features. The topic labels were assigned manually after inspecting the top-10 keywords per topic — they are not the model's own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FinBERT caveat to know: it was trained on market news, not sustainability reports. 'Positive' in FinBERT means market-positive language, not truthful claims. This is documented in the notebook and the research report. Don't claim FinBERT detects greenwashing — it detects positive spin, which is a necessary but not sufficient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intellectual honesty. Most analysts would hide limitations. Leading with them — especially in an interview — signals that you understand the method deeply enough to know its failure modes. That is rare at entry level and memorable.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'One number — the Specificity Ratio — is a better predictor of ESG disclosure quality than any single qualitative read. That is the point. Scale it to 1,000 companies, and you have a real ESG screening tool.'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162D4A"/>
          </a:solidFill>
          <a:ln/>
        </p:spPr>
      </p:sp>
      <p:pic>
        <p:nvPicPr>
          <p:cNvPr id="3" name="Image 0" descr="preencoded.png">    </p:cNvPr>
          <p:cNvPicPr>
            <a:picLocks noChangeAspect="1"/>
          </p:cNvPicPr>
          <p:nvPr/>
        </p:nvPicPr>
        <p:blipFill>
          <a:blip r:embed="rId1"/>
          <a:stretch>
            <a:fillRect/>
          </a:stretch>
        </p:blipFill>
        <p:spPr>
          <a:xfrm>
            <a:off x="502920" y="731520"/>
            <a:ext cx="822960" cy="822960"/>
          </a:xfrm>
          <a:prstGeom prst="rect">
            <a:avLst/>
          </a:prstGeom>
        </p:spPr>
      </p:pic>
      <p:sp>
        <p:nvSpPr>
          <p:cNvPr id="4" name="Text 1"/>
          <p:cNvSpPr/>
          <p:nvPr/>
        </p:nvSpPr>
        <p:spPr>
          <a:xfrm>
            <a:off x="320040" y="1691640"/>
            <a:ext cx="2377440" cy="640080"/>
          </a:xfrm>
          <a:prstGeom prst="rect">
            <a:avLst/>
          </a:prstGeom>
          <a:noFill/>
          <a:ln/>
        </p:spPr>
        <p:txBody>
          <a:bodyPr wrap="square" lIns="0" tIns="0" rIns="0" bIns="0" rtlCol="0" anchor="ctr"/>
          <a:lstStyle/>
          <a:p>
            <a:pPr algn="ctr" indent="0" marL="0">
              <a:buNone/>
            </a:pPr>
            <a:r>
              <a:rPr lang="en-US" sz="4800" b="1" dirty="0">
                <a:solidFill>
                  <a:srgbClr val="06D6A0"/>
                </a:solidFill>
                <a:latin typeface="Cambria" pitchFamily="34" charset="0"/>
                <a:ea typeface="Cambria" pitchFamily="34" charset="-122"/>
                <a:cs typeface="Cambria" pitchFamily="34" charset="-120"/>
              </a:rPr>
              <a:t>BRSR</a:t>
            </a:r>
            <a:endParaRPr lang="en-US" sz="4800" dirty="0"/>
          </a:p>
        </p:txBody>
      </p:sp>
      <p:sp>
        <p:nvSpPr>
          <p:cNvPr id="5" name="Text 2"/>
          <p:cNvSpPr/>
          <p:nvPr/>
        </p:nvSpPr>
        <p:spPr>
          <a:xfrm>
            <a:off x="182880" y="2331720"/>
            <a:ext cx="2651760" cy="10058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Greenwashing</a:t>
            </a:r>
            <a:endParaRPr lang="en-US" sz="1800" dirty="0"/>
          </a:p>
          <a:p>
            <a:pPr algn="ctr" indent="0" marL="0">
              <a:buNone/>
            </a:pPr>
            <a:r>
              <a:rPr lang="en-US" sz="1800" b="1" dirty="0">
                <a:solidFill>
                  <a:srgbClr val="FFFFFF"/>
                </a:solidFill>
                <a:latin typeface="Cambria" pitchFamily="34" charset="0"/>
                <a:ea typeface="Cambria" pitchFamily="34" charset="-122"/>
                <a:cs typeface="Cambria" pitchFamily="34" charset="-120"/>
              </a:rPr>
              <a:t>Risk Screener</a:t>
            </a:r>
            <a:endParaRPr lang="en-US" sz="1800" dirty="0"/>
          </a:p>
        </p:txBody>
      </p:sp>
      <p:sp>
        <p:nvSpPr>
          <p:cNvPr id="6" name="Text 3"/>
          <p:cNvSpPr/>
          <p:nvPr/>
        </p:nvSpPr>
        <p:spPr>
          <a:xfrm>
            <a:off x="182880" y="3429000"/>
            <a:ext cx="2651760" cy="365760"/>
          </a:xfrm>
          <a:prstGeom prst="rect">
            <a:avLst/>
          </a:prstGeom>
          <a:noFill/>
          <a:ln/>
        </p:spPr>
        <p:txBody>
          <a:bodyPr wrap="square" lIns="0" tIns="0" rIns="0" bIns="0" rtlCol="0" anchor="ctr"/>
          <a:lstStyle/>
          <a:p>
            <a:pPr algn="ctr" indent="0" marL="0">
              <a:buNone/>
            </a:pPr>
            <a:r>
              <a:rPr lang="en-US" sz="1000" dirty="0">
                <a:solidFill>
                  <a:srgbClr val="7B9BB8"/>
                </a:solidFill>
                <a:latin typeface="Calibri" pitchFamily="34" charset="0"/>
                <a:ea typeface="Calibri" pitchFamily="34" charset="-122"/>
                <a:cs typeface="Calibri" pitchFamily="34" charset="-120"/>
              </a:rPr>
              <a:t>NLP analysis · 15 reports · 5 sectors</a:t>
            </a:r>
            <a:endParaRPr lang="en-US" sz="1000" dirty="0"/>
          </a:p>
        </p:txBody>
      </p:sp>
      <p:sp>
        <p:nvSpPr>
          <p:cNvPr id="7" name="Text 4"/>
          <p:cNvSpPr/>
          <p:nvPr/>
        </p:nvSpPr>
        <p:spPr>
          <a:xfrm>
            <a:off x="3200400" y="1280160"/>
            <a:ext cx="5577840" cy="1645920"/>
          </a:xfrm>
          <a:prstGeom prst="rect">
            <a:avLst/>
          </a:prstGeom>
          <a:noFill/>
          <a:ln/>
        </p:spPr>
        <p:txBody>
          <a:bodyPr wrap="square" lIns="0" tIns="0" rIns="0" bIns="0" rtlCol="0" anchor="ctr"/>
          <a:lstStyle/>
          <a:p>
            <a:pPr indent="0" marL="0">
              <a:buNone/>
            </a:pPr>
            <a:r>
              <a:rPr lang="en-US" sz="1400" dirty="0">
                <a:solidFill>
                  <a:srgbClr val="F0F4F8"/>
                </a:solidFill>
                <a:latin typeface="Calibri" pitchFamily="34" charset="0"/>
                <a:ea typeface="Calibri" pitchFamily="34" charset="-122"/>
                <a:cs typeface="Calibri" pitchFamily="34" charset="-120"/>
              </a:rPr>
              <a:t>India's SEBI mandated the Business</a:t>
            </a:r>
            <a:endParaRPr lang="en-US" sz="1400" dirty="0"/>
          </a:p>
          <a:p>
            <a:pPr indent="0" marL="0">
              <a:buNone/>
            </a:pPr>
            <a:r>
              <a:rPr lang="en-US" sz="1400" dirty="0">
                <a:solidFill>
                  <a:srgbClr val="F0F4F8"/>
                </a:solidFill>
                <a:latin typeface="Calibri" pitchFamily="34" charset="0"/>
                <a:ea typeface="Calibri" pitchFamily="34" charset="-122"/>
                <a:cs typeface="Calibri" pitchFamily="34" charset="-120"/>
              </a:rPr>
              <a:t>Responsibility &amp; Sustainability Report</a:t>
            </a:r>
            <a:endParaRPr lang="en-US" sz="1400" dirty="0"/>
          </a:p>
          <a:p>
            <a:pPr indent="0" marL="0">
              <a:buNone/>
            </a:pPr>
            <a:r>
              <a:rPr lang="en-US" sz="1400" dirty="0">
                <a:solidFill>
                  <a:srgbClr val="F0F4F8"/>
                </a:solidFill>
                <a:latin typeface="Calibri" pitchFamily="34" charset="0"/>
                <a:ea typeface="Calibri" pitchFamily="34" charset="-122"/>
                <a:cs typeface="Calibri" pitchFamily="34" charset="-120"/>
              </a:rPr>
              <a:t>(BRSR) for the top 1,000 listed companies</a:t>
            </a:r>
            <a:endParaRPr lang="en-US" sz="1400" dirty="0"/>
          </a:p>
          <a:p>
            <a:pPr indent="0" marL="0">
              <a:buNone/>
            </a:pPr>
            <a:r>
              <a:rPr lang="en-US" sz="1400" dirty="0">
                <a:solidFill>
                  <a:srgbClr val="F0F4F8"/>
                </a:solidFill>
                <a:latin typeface="Calibri" pitchFamily="34" charset="0"/>
                <a:ea typeface="Calibri" pitchFamily="34" charset="-122"/>
                <a:cs typeface="Calibri" pitchFamily="34" charset="-120"/>
              </a:rPr>
              <a:t>from FY2022–23. This project uses NLP to</a:t>
            </a:r>
            <a:endParaRPr lang="en-US" sz="1400" dirty="0"/>
          </a:p>
          <a:p>
            <a:pPr indent="0" marL="0">
              <a:buNone/>
            </a:pPr>
            <a:r>
              <a:rPr lang="en-US" sz="1400" dirty="0">
                <a:solidFill>
                  <a:srgbClr val="F0F4F8"/>
                </a:solidFill>
                <a:latin typeface="Calibri" pitchFamily="34" charset="0"/>
                <a:ea typeface="Calibri" pitchFamily="34" charset="-122"/>
                <a:cs typeface="Calibri" pitchFamily="34" charset="-120"/>
              </a:rPr>
              <a:t>quantify how verifiable those claims are.</a:t>
            </a:r>
            <a:endParaRPr lang="en-US" sz="1400" dirty="0"/>
          </a:p>
        </p:txBody>
      </p:sp>
      <p:sp>
        <p:nvSpPr>
          <p:cNvPr id="8" name="Shape 5"/>
          <p:cNvSpPr/>
          <p:nvPr/>
        </p:nvSpPr>
        <p:spPr>
          <a:xfrm>
            <a:off x="3200400" y="3108960"/>
            <a:ext cx="1261872" cy="1280160"/>
          </a:xfrm>
          <a:prstGeom prst="rect">
            <a:avLst>
              <a:gd name="adj" fmla="val 5072"/>
            </a:avLst>
          </a:prstGeom>
          <a:solidFill>
            <a:srgbClr val="1E3A5C"/>
          </a:solidFill>
          <a:ln/>
          <a:effectLst>
            <a:outerShdw sx="100000" sy="100000" kx="0" ky="0" algn="bl" rotWithShape="0" blurRad="127000" dist="38100" dir="2700000">
              <a:srgbClr val="000000">
                <a:alpha val="10000"/>
              </a:srgbClr>
            </a:outerShdw>
          </a:effectLst>
        </p:spPr>
      </p:sp>
      <p:sp>
        <p:nvSpPr>
          <p:cNvPr id="9" name="Text 6"/>
          <p:cNvSpPr/>
          <p:nvPr/>
        </p:nvSpPr>
        <p:spPr>
          <a:xfrm>
            <a:off x="3200400" y="3182112"/>
            <a:ext cx="1261872" cy="658368"/>
          </a:xfrm>
          <a:prstGeom prst="rect">
            <a:avLst/>
          </a:prstGeom>
          <a:noFill/>
          <a:ln/>
        </p:spPr>
        <p:txBody>
          <a:bodyPr wrap="square" lIns="0" tIns="0" rIns="0" bIns="0" rtlCol="0" anchor="b"/>
          <a:lstStyle/>
          <a:p>
            <a:pPr algn="ctr" indent="0" marL="0">
              <a:buNone/>
            </a:pPr>
            <a:r>
              <a:rPr lang="en-US" sz="3000" b="1" dirty="0">
                <a:solidFill>
                  <a:srgbClr val="06D6A0"/>
                </a:solidFill>
                <a:latin typeface="Cambria" pitchFamily="34" charset="0"/>
                <a:ea typeface="Cambria" pitchFamily="34" charset="-122"/>
                <a:cs typeface="Cambria" pitchFamily="34" charset="-120"/>
              </a:rPr>
              <a:t>15</a:t>
            </a:r>
            <a:endParaRPr lang="en-US" sz="3000" dirty="0"/>
          </a:p>
        </p:txBody>
      </p:sp>
      <p:sp>
        <p:nvSpPr>
          <p:cNvPr id="10" name="Text 7"/>
          <p:cNvSpPr/>
          <p:nvPr/>
        </p:nvSpPr>
        <p:spPr>
          <a:xfrm>
            <a:off x="3200400" y="3840480"/>
            <a:ext cx="1261872" cy="502920"/>
          </a:xfrm>
          <a:prstGeom prst="rect">
            <a:avLst/>
          </a:prstGeom>
          <a:noFill/>
          <a:ln/>
        </p:spPr>
        <p:txBody>
          <a:bodyPr wrap="square" lIns="0" tIns="0" rIns="0" bIns="0" rtlCol="0" anchor="t"/>
          <a:lstStyle/>
          <a:p>
            <a:pPr algn="ctr" indent="0" marL="0">
              <a:buNone/>
            </a:pPr>
            <a:r>
              <a:rPr lang="en-US" sz="900" dirty="0">
                <a:solidFill>
                  <a:srgbClr val="7B9BB8"/>
                </a:solidFill>
                <a:latin typeface="Calibri" pitchFamily="34" charset="0"/>
                <a:ea typeface="Calibri" pitchFamily="34" charset="-122"/>
                <a:cs typeface="Calibri" pitchFamily="34" charset="-120"/>
              </a:rPr>
              <a:t>BRSR</a:t>
            </a:r>
            <a:endParaRPr lang="en-US" sz="900" dirty="0"/>
          </a:p>
          <a:p>
            <a:pPr algn="ctr" indent="0" marL="0">
              <a:buNone/>
            </a:pPr>
            <a:r>
              <a:rPr lang="en-US" sz="900" dirty="0">
                <a:solidFill>
                  <a:srgbClr val="7B9BB8"/>
                </a:solidFill>
                <a:latin typeface="Calibri" pitchFamily="34" charset="0"/>
                <a:ea typeface="Calibri" pitchFamily="34" charset="-122"/>
                <a:cs typeface="Calibri" pitchFamily="34" charset="-120"/>
              </a:rPr>
              <a:t>Reports</a:t>
            </a:r>
            <a:endParaRPr lang="en-US" sz="900" dirty="0"/>
          </a:p>
        </p:txBody>
      </p:sp>
      <p:sp>
        <p:nvSpPr>
          <p:cNvPr id="11" name="Shape 8"/>
          <p:cNvSpPr/>
          <p:nvPr/>
        </p:nvSpPr>
        <p:spPr>
          <a:xfrm>
            <a:off x="4617720" y="3108960"/>
            <a:ext cx="1261872" cy="1280160"/>
          </a:xfrm>
          <a:prstGeom prst="rect">
            <a:avLst>
              <a:gd name="adj" fmla="val 5072"/>
            </a:avLst>
          </a:prstGeom>
          <a:solidFill>
            <a:srgbClr val="1E3A5C"/>
          </a:solidFill>
          <a:ln/>
          <a:effectLst>
            <a:outerShdw sx="100000" sy="100000" kx="0" ky="0" algn="bl" rotWithShape="0" blurRad="127000" dist="38100" dir="2700000">
              <a:srgbClr val="000000">
                <a:alpha val="10000"/>
              </a:srgbClr>
            </a:outerShdw>
          </a:effectLst>
        </p:spPr>
      </p:sp>
      <p:sp>
        <p:nvSpPr>
          <p:cNvPr id="12" name="Text 9"/>
          <p:cNvSpPr/>
          <p:nvPr/>
        </p:nvSpPr>
        <p:spPr>
          <a:xfrm>
            <a:off x="4617720" y="3182112"/>
            <a:ext cx="1261872" cy="658368"/>
          </a:xfrm>
          <a:prstGeom prst="rect">
            <a:avLst/>
          </a:prstGeom>
          <a:noFill/>
          <a:ln/>
        </p:spPr>
        <p:txBody>
          <a:bodyPr wrap="square" lIns="0" tIns="0" rIns="0" bIns="0" rtlCol="0" anchor="b"/>
          <a:lstStyle/>
          <a:p>
            <a:pPr algn="ctr" indent="0" marL="0">
              <a:buNone/>
            </a:pPr>
            <a:r>
              <a:rPr lang="en-US" sz="3000" b="1" dirty="0">
                <a:solidFill>
                  <a:srgbClr val="06D6A0"/>
                </a:solidFill>
                <a:latin typeface="Cambria" pitchFamily="34" charset="0"/>
                <a:ea typeface="Cambria" pitchFamily="34" charset="-122"/>
                <a:cs typeface="Cambria" pitchFamily="34" charset="-120"/>
              </a:rPr>
              <a:t>5</a:t>
            </a:r>
            <a:endParaRPr lang="en-US" sz="3000" dirty="0"/>
          </a:p>
        </p:txBody>
      </p:sp>
      <p:sp>
        <p:nvSpPr>
          <p:cNvPr id="13" name="Text 10"/>
          <p:cNvSpPr/>
          <p:nvPr/>
        </p:nvSpPr>
        <p:spPr>
          <a:xfrm>
            <a:off x="4617720" y="3840480"/>
            <a:ext cx="1261872" cy="502920"/>
          </a:xfrm>
          <a:prstGeom prst="rect">
            <a:avLst/>
          </a:prstGeom>
          <a:noFill/>
          <a:ln/>
        </p:spPr>
        <p:txBody>
          <a:bodyPr wrap="square" lIns="0" tIns="0" rIns="0" bIns="0" rtlCol="0" anchor="t"/>
          <a:lstStyle/>
          <a:p>
            <a:pPr algn="ctr" indent="0" marL="0">
              <a:buNone/>
            </a:pPr>
            <a:r>
              <a:rPr lang="en-US" sz="900" dirty="0">
                <a:solidFill>
                  <a:srgbClr val="7B9BB8"/>
                </a:solidFill>
                <a:latin typeface="Calibri" pitchFamily="34" charset="0"/>
                <a:ea typeface="Calibri" pitchFamily="34" charset="-122"/>
                <a:cs typeface="Calibri" pitchFamily="34" charset="-120"/>
              </a:rPr>
              <a:t>Sectors</a:t>
            </a:r>
            <a:endParaRPr lang="en-US" sz="900" dirty="0"/>
          </a:p>
          <a:p>
            <a:pPr algn="ctr" indent="0" marL="0">
              <a:buNone/>
            </a:pPr>
            <a:r>
              <a:rPr lang="en-US" sz="900" dirty="0">
                <a:solidFill>
                  <a:srgbClr val="7B9BB8"/>
                </a:solidFill>
                <a:latin typeface="Calibri" pitchFamily="34" charset="0"/>
                <a:ea typeface="Calibri" pitchFamily="34" charset="-122"/>
                <a:cs typeface="Calibri" pitchFamily="34" charset="-120"/>
              </a:rPr>
              <a:t>Analysed</a:t>
            </a:r>
            <a:endParaRPr lang="en-US" sz="900" dirty="0"/>
          </a:p>
        </p:txBody>
      </p:sp>
      <p:sp>
        <p:nvSpPr>
          <p:cNvPr id="14" name="Shape 11"/>
          <p:cNvSpPr/>
          <p:nvPr/>
        </p:nvSpPr>
        <p:spPr>
          <a:xfrm>
            <a:off x="6035040" y="3108960"/>
            <a:ext cx="1261872" cy="1280160"/>
          </a:xfrm>
          <a:prstGeom prst="rect">
            <a:avLst>
              <a:gd name="adj" fmla="val 5072"/>
            </a:avLst>
          </a:prstGeom>
          <a:solidFill>
            <a:srgbClr val="1E3A5C"/>
          </a:solidFill>
          <a:ln/>
          <a:effectLst>
            <a:outerShdw sx="100000" sy="100000" kx="0" ky="0" algn="bl" rotWithShape="0" blurRad="127000" dist="38100" dir="2700000">
              <a:srgbClr val="000000">
                <a:alpha val="10000"/>
              </a:srgbClr>
            </a:outerShdw>
          </a:effectLst>
        </p:spPr>
      </p:sp>
      <p:sp>
        <p:nvSpPr>
          <p:cNvPr id="15" name="Text 12"/>
          <p:cNvSpPr/>
          <p:nvPr/>
        </p:nvSpPr>
        <p:spPr>
          <a:xfrm>
            <a:off x="6035040" y="3182112"/>
            <a:ext cx="1261872" cy="658368"/>
          </a:xfrm>
          <a:prstGeom prst="rect">
            <a:avLst/>
          </a:prstGeom>
          <a:noFill/>
          <a:ln/>
        </p:spPr>
        <p:txBody>
          <a:bodyPr wrap="square" lIns="0" tIns="0" rIns="0" bIns="0" rtlCol="0" anchor="b"/>
          <a:lstStyle/>
          <a:p>
            <a:pPr algn="ctr" indent="0" marL="0">
              <a:buNone/>
            </a:pPr>
            <a:r>
              <a:rPr lang="en-US" sz="3000" b="1" dirty="0">
                <a:solidFill>
                  <a:srgbClr val="06D6A0"/>
                </a:solidFill>
                <a:latin typeface="Cambria" pitchFamily="34" charset="0"/>
                <a:ea typeface="Cambria" pitchFamily="34" charset="-122"/>
                <a:cs typeface="Cambria" pitchFamily="34" charset="-120"/>
              </a:rPr>
              <a:t>40%</a:t>
            </a:r>
            <a:endParaRPr lang="en-US" sz="3000" dirty="0"/>
          </a:p>
        </p:txBody>
      </p:sp>
      <p:sp>
        <p:nvSpPr>
          <p:cNvPr id="16" name="Text 13"/>
          <p:cNvSpPr/>
          <p:nvPr/>
        </p:nvSpPr>
        <p:spPr>
          <a:xfrm>
            <a:off x="6035040" y="3840480"/>
            <a:ext cx="1261872" cy="502920"/>
          </a:xfrm>
          <a:prstGeom prst="rect">
            <a:avLst/>
          </a:prstGeom>
          <a:noFill/>
          <a:ln/>
        </p:spPr>
        <p:txBody>
          <a:bodyPr wrap="square" lIns="0" tIns="0" rIns="0" bIns="0" rtlCol="0" anchor="t"/>
          <a:lstStyle/>
          <a:p>
            <a:pPr algn="ctr" indent="0" marL="0">
              <a:buNone/>
            </a:pPr>
            <a:r>
              <a:rPr lang="en-US" sz="900" dirty="0">
                <a:solidFill>
                  <a:srgbClr val="7B9BB8"/>
                </a:solidFill>
                <a:latin typeface="Calibri" pitchFamily="34" charset="0"/>
                <a:ea typeface="Calibri" pitchFamily="34" charset="-122"/>
                <a:cs typeface="Calibri" pitchFamily="34" charset="-120"/>
              </a:rPr>
              <a:t>Score</a:t>
            </a:r>
            <a:endParaRPr lang="en-US" sz="900" dirty="0"/>
          </a:p>
          <a:p>
            <a:pPr algn="ctr" indent="0" marL="0">
              <a:buNone/>
            </a:pPr>
            <a:r>
              <a:rPr lang="en-US" sz="900" dirty="0">
                <a:solidFill>
                  <a:srgbClr val="7B9BB8"/>
                </a:solidFill>
                <a:latin typeface="Calibri" pitchFamily="34" charset="0"/>
                <a:ea typeface="Calibri" pitchFamily="34" charset="-122"/>
                <a:cs typeface="Calibri" pitchFamily="34" charset="-120"/>
              </a:rPr>
              <a:t>HIGH Risk</a:t>
            </a:r>
            <a:endParaRPr lang="en-US" sz="900" dirty="0"/>
          </a:p>
        </p:txBody>
      </p:sp>
      <p:sp>
        <p:nvSpPr>
          <p:cNvPr id="17" name="Shape 14"/>
          <p:cNvSpPr/>
          <p:nvPr/>
        </p:nvSpPr>
        <p:spPr>
          <a:xfrm>
            <a:off x="7452360" y="3108960"/>
            <a:ext cx="1261872" cy="1280160"/>
          </a:xfrm>
          <a:prstGeom prst="rect">
            <a:avLst>
              <a:gd name="adj" fmla="val 5072"/>
            </a:avLst>
          </a:prstGeom>
          <a:solidFill>
            <a:srgbClr val="1E3A5C"/>
          </a:solidFill>
          <a:ln/>
          <a:effectLst>
            <a:outerShdw sx="100000" sy="100000" kx="0" ky="0" algn="bl" rotWithShape="0" blurRad="127000" dist="38100" dir="2700000">
              <a:srgbClr val="000000">
                <a:alpha val="10000"/>
              </a:srgbClr>
            </a:outerShdw>
          </a:effectLst>
        </p:spPr>
      </p:sp>
      <p:sp>
        <p:nvSpPr>
          <p:cNvPr id="18" name="Text 15"/>
          <p:cNvSpPr/>
          <p:nvPr/>
        </p:nvSpPr>
        <p:spPr>
          <a:xfrm>
            <a:off x="7452360" y="3182112"/>
            <a:ext cx="1261872" cy="658368"/>
          </a:xfrm>
          <a:prstGeom prst="rect">
            <a:avLst/>
          </a:prstGeom>
          <a:noFill/>
          <a:ln/>
        </p:spPr>
        <p:txBody>
          <a:bodyPr wrap="square" lIns="0" tIns="0" rIns="0" bIns="0" rtlCol="0" anchor="b"/>
          <a:lstStyle/>
          <a:p>
            <a:pPr algn="ctr" indent="0" marL="0">
              <a:buNone/>
            </a:pPr>
            <a:r>
              <a:rPr lang="en-US" sz="3000" b="1" dirty="0">
                <a:solidFill>
                  <a:srgbClr val="06D6A0"/>
                </a:solidFill>
                <a:latin typeface="Cambria" pitchFamily="34" charset="0"/>
                <a:ea typeface="Cambria" pitchFamily="34" charset="-122"/>
                <a:cs typeface="Cambria" pitchFamily="34" charset="-120"/>
              </a:rPr>
              <a:t>−0.73</a:t>
            </a:r>
            <a:endParaRPr lang="en-US" sz="3000" dirty="0"/>
          </a:p>
        </p:txBody>
      </p:sp>
      <p:sp>
        <p:nvSpPr>
          <p:cNvPr id="19" name="Text 16"/>
          <p:cNvSpPr/>
          <p:nvPr/>
        </p:nvSpPr>
        <p:spPr>
          <a:xfrm>
            <a:off x="7452360" y="3840480"/>
            <a:ext cx="1261872" cy="502920"/>
          </a:xfrm>
          <a:prstGeom prst="rect">
            <a:avLst/>
          </a:prstGeom>
          <a:noFill/>
          <a:ln/>
        </p:spPr>
        <p:txBody>
          <a:bodyPr wrap="square" lIns="0" tIns="0" rIns="0" bIns="0" rtlCol="0" anchor="t"/>
          <a:lstStyle/>
          <a:p>
            <a:pPr algn="ctr" indent="0" marL="0">
              <a:buNone/>
            </a:pPr>
            <a:r>
              <a:rPr lang="en-US" sz="900" dirty="0">
                <a:solidFill>
                  <a:srgbClr val="7B9BB8"/>
                </a:solidFill>
                <a:latin typeface="Calibri" pitchFamily="34" charset="0"/>
                <a:ea typeface="Calibri" pitchFamily="34" charset="-122"/>
                <a:cs typeface="Calibri" pitchFamily="34" charset="-120"/>
              </a:rPr>
              <a:t>Pearson r</a:t>
            </a:r>
            <a:endParaRPr lang="en-US" sz="900" dirty="0"/>
          </a:p>
          <a:p>
            <a:pPr algn="ctr" indent="0" marL="0">
              <a:buNone/>
            </a:pPr>
            <a:r>
              <a:rPr lang="en-US" sz="900" dirty="0">
                <a:solidFill>
                  <a:srgbClr val="7B9BB8"/>
                </a:solidFill>
                <a:latin typeface="Calibri" pitchFamily="34" charset="0"/>
                <a:ea typeface="Calibri" pitchFamily="34" charset="-122"/>
                <a:cs typeface="Calibri" pitchFamily="34" charset="-120"/>
              </a:rPr>
              <a:t>(SR vs GRS)</a:t>
            </a:r>
            <a:endParaRPr lang="en-US" sz="900" dirty="0"/>
          </a:p>
        </p:txBody>
      </p:sp>
      <p:sp>
        <p:nvSpPr>
          <p:cNvPr id="20" name="Text 17"/>
          <p:cNvSpPr/>
          <p:nvPr/>
        </p:nvSpPr>
        <p:spPr>
          <a:xfrm>
            <a:off x="3200400" y="4709160"/>
            <a:ext cx="5669280" cy="274320"/>
          </a:xfrm>
          <a:prstGeom prst="rect">
            <a:avLst/>
          </a:prstGeom>
          <a:noFill/>
          <a:ln/>
        </p:spPr>
        <p:txBody>
          <a:bodyPr wrap="square" lIns="0" tIns="0" rIns="0" bIns="0" rtlCol="0" anchor="ctr"/>
          <a:lstStyle/>
          <a:p>
            <a:pPr algn="l" indent="0" marL="0">
              <a:buNone/>
            </a:pPr>
            <a:r>
              <a:rPr lang="en-US" sz="800" dirty="0">
                <a:solidFill>
                  <a:srgbClr val="7B9BB8"/>
                </a:solidFill>
                <a:latin typeface="Calibri" pitchFamily="34" charset="0"/>
                <a:ea typeface="Calibri" pitchFamily="34" charset="-122"/>
                <a:cs typeface="Calibri" pitchFamily="34" charset="-120"/>
              </a:rPr>
              <a:t>[Your Name]  ·  June 2026  ·  github.com/[yourusername]/brsr-nlp-greenwashing</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2137"/>
          </a:solidFill>
          <a:ln/>
        </p:spPr>
      </p:sp>
      <p:sp>
        <p:nvSpPr>
          <p:cNvPr id="3" name="Text 1"/>
          <p:cNvSpPr/>
          <p:nvPr/>
        </p:nvSpPr>
        <p:spPr>
          <a:xfrm>
            <a:off x="365760" y="0"/>
            <a:ext cx="7315200" cy="7772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The Problem: BRSR Filings Are Public, But Who Checks Them?</a:t>
            </a:r>
            <a:endParaRPr lang="en-US" sz="2200" dirty="0"/>
          </a:p>
        </p:txBody>
      </p:sp>
      <p:sp>
        <p:nvSpPr>
          <p:cNvPr id="4" name="Text 2"/>
          <p:cNvSpPr/>
          <p:nvPr/>
        </p:nvSpPr>
        <p:spPr>
          <a:xfrm>
            <a:off x="274320" y="4892040"/>
            <a:ext cx="8595360" cy="182880"/>
          </a:xfrm>
          <a:prstGeom prst="rect">
            <a:avLst/>
          </a:prstGeom>
          <a:noFill/>
          <a:ln/>
        </p:spPr>
        <p:txBody>
          <a:bodyPr wrap="square" lIns="0" tIns="0" rIns="0" bIns="0" rtlCol="0" anchor="ctr"/>
          <a:lstStyle/>
          <a:p>
            <a:pPr algn="ctr" indent="0" marL="0">
              <a:buNone/>
            </a:pPr>
            <a:r>
              <a:rPr lang="en-US" sz="700" dirty="0">
                <a:solidFill>
                  <a:srgbClr val="7B9BB8"/>
                </a:solidFill>
                <a:latin typeface="Calibri" pitchFamily="34" charset="0"/>
                <a:ea typeface="Calibri" pitchFamily="34" charset="-122"/>
                <a:cs typeface="Calibri" pitchFamily="34" charset="-120"/>
              </a:rPr>
              <a:t>BRSR Greenwashing Risk Screener  |  NLP Analysis, FY2022–25  |  [Your Name], June 2026</a:t>
            </a:r>
            <a:endParaRPr lang="en-US" sz="700" dirty="0"/>
          </a:p>
        </p:txBody>
      </p:sp>
      <p:sp>
        <p:nvSpPr>
          <p:cNvPr id="5" name="Text 3"/>
          <p:cNvSpPr/>
          <p:nvPr/>
        </p:nvSpPr>
        <p:spPr>
          <a:xfrm>
            <a:off x="365760" y="868680"/>
            <a:ext cx="8412480" cy="320040"/>
          </a:xfrm>
          <a:prstGeom prst="rect">
            <a:avLst/>
          </a:prstGeom>
          <a:noFill/>
          <a:ln/>
        </p:spPr>
        <p:txBody>
          <a:bodyPr wrap="square" lIns="0" tIns="0" rIns="0" bIns="0" rtlCol="0" anchor="ctr"/>
          <a:lstStyle/>
          <a:p>
            <a:pPr indent="0" marL="0">
              <a:buNone/>
            </a:pPr>
            <a:r>
              <a:rPr lang="en-US" sz="1300" i="1" dirty="0">
                <a:solidFill>
                  <a:srgbClr val="2D3F51"/>
                </a:solidFill>
                <a:latin typeface="Calibri" pitchFamily="34" charset="0"/>
                <a:ea typeface="Calibri" pitchFamily="34" charset="-122"/>
                <a:cs typeface="Calibri" pitchFamily="34" charset="-120"/>
              </a:rPr>
              <a:t>SEBI's BRSR mandate creates India's first standardised ESG disclosure corpus.</a:t>
            </a:r>
            <a:endParaRPr lang="en-US" sz="1300" dirty="0"/>
          </a:p>
        </p:txBody>
      </p:sp>
      <p:sp>
        <p:nvSpPr>
          <p:cNvPr id="6" name="Shape 4"/>
          <p:cNvSpPr/>
          <p:nvPr/>
        </p:nvSpPr>
        <p:spPr>
          <a:xfrm>
            <a:off x="365760" y="1325880"/>
            <a:ext cx="8412480" cy="1024128"/>
          </a:xfrm>
          <a:prstGeom prst="rect">
            <a:avLst>
              <a:gd name="adj" fmla="val 5357"/>
            </a:avLst>
          </a:prstGeom>
          <a:solidFill>
            <a:srgbClr val="FFFFFF"/>
          </a:solidFill>
          <a:ln w="6350">
            <a:solidFill>
              <a:srgbClr val="E2EBF3"/>
            </a:solidFill>
            <a:prstDash val="solid"/>
          </a:ln>
          <a:effectLst>
            <a:outerShdw sx="100000" sy="100000" kx="0" ky="0" algn="bl" rotWithShape="0" blurRad="127000" dist="38100" dir="2700000">
              <a:srgbClr val="000000">
                <a:alpha val="10000"/>
              </a:srgbClr>
            </a:outerShdw>
          </a:effectLst>
        </p:spPr>
      </p:sp>
      <p:pic>
        <p:nvPicPr>
          <p:cNvPr id="7" name="Image 0" descr="preencoded.png">    </p:cNvPr>
          <p:cNvPicPr>
            <a:picLocks noChangeAspect="1"/>
          </p:cNvPicPr>
          <p:nvPr/>
        </p:nvPicPr>
        <p:blipFill>
          <a:blip r:embed="rId1"/>
          <a:stretch>
            <a:fillRect/>
          </a:stretch>
        </p:blipFill>
        <p:spPr>
          <a:xfrm>
            <a:off x="548640" y="1581912"/>
            <a:ext cx="411480" cy="411480"/>
          </a:xfrm>
          <a:prstGeom prst="rect">
            <a:avLst/>
          </a:prstGeom>
        </p:spPr>
      </p:pic>
      <p:sp>
        <p:nvSpPr>
          <p:cNvPr id="8" name="Text 5"/>
          <p:cNvSpPr/>
          <p:nvPr/>
        </p:nvSpPr>
        <p:spPr>
          <a:xfrm>
            <a:off x="1097280" y="1417320"/>
            <a:ext cx="7406640" cy="347472"/>
          </a:xfrm>
          <a:prstGeom prst="rect">
            <a:avLst/>
          </a:prstGeom>
          <a:noFill/>
          <a:ln/>
        </p:spPr>
        <p:txBody>
          <a:bodyPr wrap="square" lIns="0" tIns="0" rIns="0" bIns="0" rtlCol="0" anchor="b"/>
          <a:lstStyle/>
          <a:p>
            <a:pPr indent="0" marL="0">
              <a:buNone/>
            </a:pPr>
            <a:r>
              <a:rPr lang="en-US" sz="1300" b="1" dirty="0">
                <a:solidFill>
                  <a:srgbClr val="2D3F51"/>
                </a:solidFill>
                <a:latin typeface="Cambria" pitchFamily="34" charset="0"/>
                <a:ea typeface="Cambria" pitchFamily="34" charset="-122"/>
                <a:cs typeface="Cambria" pitchFamily="34" charset="-120"/>
              </a:rPr>
              <a:t>No baseline standard for language</a:t>
            </a:r>
            <a:endParaRPr lang="en-US" sz="1300" dirty="0"/>
          </a:p>
        </p:txBody>
      </p:sp>
      <p:sp>
        <p:nvSpPr>
          <p:cNvPr id="9" name="Text 6"/>
          <p:cNvSpPr/>
          <p:nvPr/>
        </p:nvSpPr>
        <p:spPr>
          <a:xfrm>
            <a:off x="1097280" y="1783080"/>
            <a:ext cx="7406640" cy="502920"/>
          </a:xfrm>
          <a:prstGeom prst="rect">
            <a:avLst/>
          </a:prstGeom>
          <a:noFill/>
          <a:ln/>
        </p:spPr>
        <p:txBody>
          <a:bodyPr wrap="square" lIns="0" tIns="0" rIns="0" bIns="0" rtlCol="0" anchor="t"/>
          <a:lstStyle/>
          <a:p>
            <a:pPr indent="0" marL="0">
              <a:buNone/>
            </a:pPr>
            <a:r>
              <a:rPr lang="en-US" sz="1100" dirty="0">
                <a:solidFill>
                  <a:srgbClr val="7B9BB8"/>
                </a:solidFill>
                <a:latin typeface="Calibri" pitchFamily="34" charset="0"/>
                <a:ea typeface="Calibri" pitchFamily="34" charset="-122"/>
                <a:cs typeface="Calibri" pitchFamily="34" charset="-120"/>
              </a:rPr>
              <a:t>A company can write 'We strive to reduce emissions' or 'Scope 1 reduced 27% vs 2017 baseline (SBTi-validated)' — both comply with BRSR.</a:t>
            </a:r>
            <a:endParaRPr lang="en-US" sz="1100" dirty="0"/>
          </a:p>
        </p:txBody>
      </p:sp>
      <p:sp>
        <p:nvSpPr>
          <p:cNvPr id="10" name="Shape 7"/>
          <p:cNvSpPr/>
          <p:nvPr/>
        </p:nvSpPr>
        <p:spPr>
          <a:xfrm>
            <a:off x="365760" y="2514600"/>
            <a:ext cx="8412480" cy="1024128"/>
          </a:xfrm>
          <a:prstGeom prst="rect">
            <a:avLst>
              <a:gd name="adj" fmla="val 5357"/>
            </a:avLst>
          </a:prstGeom>
          <a:solidFill>
            <a:srgbClr val="FFFFFF"/>
          </a:solidFill>
          <a:ln w="6350">
            <a:solidFill>
              <a:srgbClr val="E2EBF3"/>
            </a:solidFill>
            <a:prstDash val="solid"/>
          </a:ln>
          <a:effectLst>
            <a:outerShdw sx="100000" sy="100000" kx="0" ky="0" algn="bl" rotWithShape="0" blurRad="127000" dist="38100" dir="2700000">
              <a:srgbClr val="000000">
                <a:alpha val="10000"/>
              </a:srgbClr>
            </a:outerShdw>
          </a:effectLst>
        </p:spPr>
      </p:sp>
      <p:pic>
        <p:nvPicPr>
          <p:cNvPr id="11" name="Image 1" descr="preencoded.png">    </p:cNvPr>
          <p:cNvPicPr>
            <a:picLocks noChangeAspect="1"/>
          </p:cNvPicPr>
          <p:nvPr/>
        </p:nvPicPr>
        <p:blipFill>
          <a:blip r:embed="rId2"/>
          <a:stretch>
            <a:fillRect/>
          </a:stretch>
        </p:blipFill>
        <p:spPr>
          <a:xfrm>
            <a:off x="548640" y="2770632"/>
            <a:ext cx="411480" cy="411480"/>
          </a:xfrm>
          <a:prstGeom prst="rect">
            <a:avLst/>
          </a:prstGeom>
        </p:spPr>
      </p:pic>
      <p:sp>
        <p:nvSpPr>
          <p:cNvPr id="12" name="Text 8"/>
          <p:cNvSpPr/>
          <p:nvPr/>
        </p:nvSpPr>
        <p:spPr>
          <a:xfrm>
            <a:off x="1097280" y="2606040"/>
            <a:ext cx="7406640" cy="347472"/>
          </a:xfrm>
          <a:prstGeom prst="rect">
            <a:avLst/>
          </a:prstGeom>
          <a:noFill/>
          <a:ln/>
        </p:spPr>
        <p:txBody>
          <a:bodyPr wrap="square" lIns="0" tIns="0" rIns="0" bIns="0" rtlCol="0" anchor="b"/>
          <a:lstStyle/>
          <a:p>
            <a:pPr indent="0" marL="0">
              <a:buNone/>
            </a:pPr>
            <a:r>
              <a:rPr lang="en-US" sz="1300" b="1" dirty="0">
                <a:solidFill>
                  <a:srgbClr val="2D3F51"/>
                </a:solidFill>
                <a:latin typeface="Cambria" pitchFamily="34" charset="0"/>
                <a:ea typeface="Cambria" pitchFamily="34" charset="-122"/>
                <a:cs typeface="Cambria" pitchFamily="34" charset="-120"/>
              </a:rPr>
              <a:t>Reading 15 reports manually takes weeks</a:t>
            </a:r>
            <a:endParaRPr lang="en-US" sz="1300" dirty="0"/>
          </a:p>
        </p:txBody>
      </p:sp>
      <p:sp>
        <p:nvSpPr>
          <p:cNvPr id="13" name="Text 9"/>
          <p:cNvSpPr/>
          <p:nvPr/>
        </p:nvSpPr>
        <p:spPr>
          <a:xfrm>
            <a:off x="1097280" y="2971800"/>
            <a:ext cx="7406640" cy="502920"/>
          </a:xfrm>
          <a:prstGeom prst="rect">
            <a:avLst/>
          </a:prstGeom>
          <a:noFill/>
          <a:ln/>
        </p:spPr>
        <p:txBody>
          <a:bodyPr wrap="square" lIns="0" tIns="0" rIns="0" bIns="0" rtlCol="0" anchor="t"/>
          <a:lstStyle/>
          <a:p>
            <a:pPr indent="0" marL="0">
              <a:buNone/>
            </a:pPr>
            <a:r>
              <a:rPr lang="en-US" sz="1100" dirty="0">
                <a:solidFill>
                  <a:srgbClr val="7B9BB8"/>
                </a:solidFill>
                <a:latin typeface="Calibri" pitchFamily="34" charset="0"/>
                <a:ea typeface="Calibri" pitchFamily="34" charset="-122"/>
                <a:cs typeface="Calibri" pitchFamily="34" charset="-120"/>
              </a:rPr>
              <a:t>There are 1,000 mandatory BRSR filers. No individual analyst has time to compare them systematically.</a:t>
            </a:r>
            <a:endParaRPr lang="en-US" sz="1100" dirty="0"/>
          </a:p>
        </p:txBody>
      </p:sp>
      <p:sp>
        <p:nvSpPr>
          <p:cNvPr id="14" name="Shape 10"/>
          <p:cNvSpPr/>
          <p:nvPr/>
        </p:nvSpPr>
        <p:spPr>
          <a:xfrm>
            <a:off x="365760" y="3703320"/>
            <a:ext cx="8412480" cy="1024128"/>
          </a:xfrm>
          <a:prstGeom prst="rect">
            <a:avLst>
              <a:gd name="adj" fmla="val 5357"/>
            </a:avLst>
          </a:prstGeom>
          <a:solidFill>
            <a:srgbClr val="FFFFFF"/>
          </a:solidFill>
          <a:ln w="6350">
            <a:solidFill>
              <a:srgbClr val="E2EBF3"/>
            </a:solidFill>
            <a:prstDash val="solid"/>
          </a:ln>
          <a:effectLst>
            <a:outerShdw sx="100000" sy="100000" kx="0" ky="0" algn="bl" rotWithShape="0" blurRad="127000" dist="38100" dir="2700000">
              <a:srgbClr val="000000">
                <a:alpha val="10000"/>
              </a:srgbClr>
            </a:outerShdw>
          </a:effectLst>
        </p:spPr>
      </p:sp>
      <p:pic>
        <p:nvPicPr>
          <p:cNvPr id="15" name="Image 2" descr="preencoded.png">    </p:cNvPr>
          <p:cNvPicPr>
            <a:picLocks noChangeAspect="1"/>
          </p:cNvPicPr>
          <p:nvPr/>
        </p:nvPicPr>
        <p:blipFill>
          <a:blip r:embed="rId3"/>
          <a:stretch>
            <a:fillRect/>
          </a:stretch>
        </p:blipFill>
        <p:spPr>
          <a:xfrm>
            <a:off x="548640" y="3959352"/>
            <a:ext cx="411480" cy="411480"/>
          </a:xfrm>
          <a:prstGeom prst="rect">
            <a:avLst/>
          </a:prstGeom>
        </p:spPr>
      </p:pic>
      <p:sp>
        <p:nvSpPr>
          <p:cNvPr id="16" name="Text 11"/>
          <p:cNvSpPr/>
          <p:nvPr/>
        </p:nvSpPr>
        <p:spPr>
          <a:xfrm>
            <a:off x="1097280" y="3794760"/>
            <a:ext cx="7406640" cy="347472"/>
          </a:xfrm>
          <a:prstGeom prst="rect">
            <a:avLst/>
          </a:prstGeom>
          <a:noFill/>
          <a:ln/>
        </p:spPr>
        <p:txBody>
          <a:bodyPr wrap="square" lIns="0" tIns="0" rIns="0" bIns="0" rtlCol="0" anchor="b"/>
          <a:lstStyle/>
          <a:p>
            <a:pPr indent="0" marL="0">
              <a:buNone/>
            </a:pPr>
            <a:r>
              <a:rPr lang="en-US" sz="1300" b="1" dirty="0">
                <a:solidFill>
                  <a:srgbClr val="2D3F51"/>
                </a:solidFill>
                <a:latin typeface="Cambria" pitchFamily="34" charset="0"/>
                <a:ea typeface="Cambria" pitchFamily="34" charset="-122"/>
                <a:cs typeface="Cambria" pitchFamily="34" charset="-120"/>
              </a:rPr>
              <a:t>No public NLP tool exists for Indian BRSR</a:t>
            </a:r>
            <a:endParaRPr lang="en-US" sz="1300" dirty="0"/>
          </a:p>
        </p:txBody>
      </p:sp>
      <p:sp>
        <p:nvSpPr>
          <p:cNvPr id="17" name="Text 12"/>
          <p:cNvSpPr/>
          <p:nvPr/>
        </p:nvSpPr>
        <p:spPr>
          <a:xfrm>
            <a:off x="1097280" y="4160520"/>
            <a:ext cx="7406640" cy="502920"/>
          </a:xfrm>
          <a:prstGeom prst="rect">
            <a:avLst/>
          </a:prstGeom>
          <a:noFill/>
          <a:ln/>
        </p:spPr>
        <p:txBody>
          <a:bodyPr wrap="square" lIns="0" tIns="0" rIns="0" bIns="0" rtlCol="0" anchor="t"/>
          <a:lstStyle/>
          <a:p>
            <a:pPr indent="0" marL="0">
              <a:buNone/>
            </a:pPr>
            <a:r>
              <a:rPr lang="en-US" sz="1100" dirty="0">
                <a:solidFill>
                  <a:srgbClr val="7B9BB8"/>
                </a:solidFill>
                <a:latin typeface="Calibri" pitchFamily="34" charset="0"/>
                <a:ea typeface="Calibri" pitchFamily="34" charset="-122"/>
                <a:cs typeface="Calibri" pitchFamily="34" charset="-120"/>
              </a:rPr>
              <a:t>International tools (e.g. ClimateBERT) were trained on global disclosures — not India-specific regulatory language.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2137"/>
          </a:solidFill>
          <a:ln/>
        </p:spPr>
      </p:sp>
      <p:sp>
        <p:nvSpPr>
          <p:cNvPr id="3" name="Text 1"/>
          <p:cNvSpPr/>
          <p:nvPr/>
        </p:nvSpPr>
        <p:spPr>
          <a:xfrm>
            <a:off x="365760" y="0"/>
            <a:ext cx="7315200" cy="7772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Data: 15 Real BRSR Filings, 5 Sectors, All Publicly Available</a:t>
            </a:r>
            <a:endParaRPr lang="en-US" sz="2200" dirty="0"/>
          </a:p>
        </p:txBody>
      </p:sp>
      <p:sp>
        <p:nvSpPr>
          <p:cNvPr id="4" name="Text 2"/>
          <p:cNvSpPr/>
          <p:nvPr/>
        </p:nvSpPr>
        <p:spPr>
          <a:xfrm>
            <a:off x="274320" y="4892040"/>
            <a:ext cx="8595360" cy="182880"/>
          </a:xfrm>
          <a:prstGeom prst="rect">
            <a:avLst/>
          </a:prstGeom>
          <a:noFill/>
          <a:ln/>
        </p:spPr>
        <p:txBody>
          <a:bodyPr wrap="square" lIns="0" tIns="0" rIns="0" bIns="0" rtlCol="0" anchor="ctr"/>
          <a:lstStyle/>
          <a:p>
            <a:pPr algn="ctr" indent="0" marL="0">
              <a:buNone/>
            </a:pPr>
            <a:r>
              <a:rPr lang="en-US" sz="700" dirty="0">
                <a:solidFill>
                  <a:srgbClr val="7B9BB8"/>
                </a:solidFill>
                <a:latin typeface="Calibri" pitchFamily="34" charset="0"/>
                <a:ea typeface="Calibri" pitchFamily="34" charset="-122"/>
                <a:cs typeface="Calibri" pitchFamily="34" charset="-120"/>
              </a:rPr>
              <a:t>BRSR Greenwashing Risk Screener  |  NLP Analysis, FY2022–25  |  [Your Name], June 2026</a:t>
            </a:r>
            <a:endParaRPr lang="en-US" sz="700" dirty="0"/>
          </a:p>
        </p:txBody>
      </p:sp>
      <p:sp>
        <p:nvSpPr>
          <p:cNvPr id="5" name="Shape 3"/>
          <p:cNvSpPr/>
          <p:nvPr/>
        </p:nvSpPr>
        <p:spPr>
          <a:xfrm>
            <a:off x="320040" y="960120"/>
            <a:ext cx="2697480" cy="1691640"/>
          </a:xfrm>
          <a:prstGeom prst="rect">
            <a:avLst>
              <a:gd name="adj" fmla="val 3243"/>
            </a:avLst>
          </a:prstGeom>
          <a:solidFill>
            <a:srgbClr val="F0F4F8"/>
          </a:solidFill>
          <a:ln w="6350">
            <a:solidFill>
              <a:srgbClr val="E2EBF3"/>
            </a:solidFill>
            <a:prstDash val="solid"/>
          </a:ln>
          <a:effectLst>
            <a:outerShdw sx="100000" sy="100000" kx="0" ky="0" algn="bl" rotWithShape="0" blurRad="127000" dist="38100" dir="2700000">
              <a:srgbClr val="000000">
                <a:alpha val="10000"/>
              </a:srgbClr>
            </a:outerShdw>
          </a:effectLst>
        </p:spPr>
      </p:sp>
      <p:sp>
        <p:nvSpPr>
          <p:cNvPr id="6" name="Shape 4"/>
          <p:cNvSpPr/>
          <p:nvPr/>
        </p:nvSpPr>
        <p:spPr>
          <a:xfrm>
            <a:off x="502920" y="1124712"/>
            <a:ext cx="502920" cy="502920"/>
          </a:xfrm>
          <a:prstGeom prst="oval">
            <a:avLst/>
          </a:prstGeom>
          <a:solidFill>
            <a:srgbClr val="3B82F6">
              <a:alpha val="20000"/>
            </a:srgbClr>
          </a:solidFill>
          <a:ln/>
        </p:spPr>
      </p:sp>
      <p:sp>
        <p:nvSpPr>
          <p:cNvPr id="7" name="Text 5"/>
          <p:cNvSpPr/>
          <p:nvPr/>
        </p:nvSpPr>
        <p:spPr>
          <a:xfrm>
            <a:off x="1097280" y="1097280"/>
            <a:ext cx="1828800" cy="411480"/>
          </a:xfrm>
          <a:prstGeom prst="rect">
            <a:avLst/>
          </a:prstGeom>
          <a:noFill/>
          <a:ln/>
        </p:spPr>
        <p:txBody>
          <a:bodyPr wrap="square" lIns="0" tIns="0" rIns="0" bIns="0" rtlCol="0" anchor="ctr"/>
          <a:lstStyle/>
          <a:p>
            <a:pPr indent="0" marL="0">
              <a:buNone/>
            </a:pPr>
            <a:r>
              <a:rPr lang="en-US" sz="1200" b="1" dirty="0">
                <a:solidFill>
                  <a:srgbClr val="2D3F51"/>
                </a:solidFill>
                <a:latin typeface="Cambria" pitchFamily="34" charset="0"/>
                <a:ea typeface="Cambria" pitchFamily="34" charset="-122"/>
                <a:cs typeface="Cambria" pitchFamily="34" charset="-120"/>
              </a:rPr>
              <a:t>IT Services</a:t>
            </a:r>
            <a:endParaRPr lang="en-US" sz="1200" dirty="0"/>
          </a:p>
        </p:txBody>
      </p:sp>
      <p:sp>
        <p:nvSpPr>
          <p:cNvPr id="8" name="Text 6"/>
          <p:cNvSpPr/>
          <p:nvPr/>
        </p:nvSpPr>
        <p:spPr>
          <a:xfrm>
            <a:off x="411480" y="1618488"/>
            <a:ext cx="2514600" cy="777240"/>
          </a:xfrm>
          <a:prstGeom prst="rect">
            <a:avLst/>
          </a:prstGeom>
          <a:noFill/>
          <a:ln/>
        </p:spPr>
        <p:txBody>
          <a:bodyPr wrap="square" lIns="50800" tIns="50800" rIns="50800" bIns="50800" rtlCol="0" anchor="t"/>
          <a:lstStyle/>
          <a:p>
            <a:pPr indent="0" marL="0">
              <a:buNone/>
            </a:pPr>
            <a:r>
              <a:rPr lang="en-US" sz="1000" dirty="0">
                <a:solidFill>
                  <a:srgbClr val="7B9BB8"/>
                </a:solidFill>
                <a:latin typeface="Calibri" pitchFamily="34" charset="0"/>
                <a:ea typeface="Calibri" pitchFamily="34" charset="-122"/>
                <a:cs typeface="Calibri" pitchFamily="34" charset="-120"/>
              </a:rPr>
              <a:t>Infosys · TCS · Wipro</a:t>
            </a:r>
            <a:endParaRPr lang="en-US" sz="1000" dirty="0"/>
          </a:p>
        </p:txBody>
      </p:sp>
      <p:sp>
        <p:nvSpPr>
          <p:cNvPr id="9" name="Shape 7"/>
          <p:cNvSpPr/>
          <p:nvPr/>
        </p:nvSpPr>
        <p:spPr>
          <a:xfrm>
            <a:off x="3172968" y="960120"/>
            <a:ext cx="2697480" cy="1691640"/>
          </a:xfrm>
          <a:prstGeom prst="rect">
            <a:avLst>
              <a:gd name="adj" fmla="val 3243"/>
            </a:avLst>
          </a:prstGeom>
          <a:solidFill>
            <a:srgbClr val="F0F4F8"/>
          </a:solidFill>
          <a:ln w="6350">
            <a:solidFill>
              <a:srgbClr val="E2EBF3"/>
            </a:solidFill>
            <a:prstDash val="solid"/>
          </a:ln>
          <a:effectLst>
            <a:outerShdw sx="100000" sy="100000" kx="0" ky="0" algn="bl" rotWithShape="0" blurRad="127000" dist="38100" dir="2700000">
              <a:srgbClr val="000000">
                <a:alpha val="10000"/>
              </a:srgbClr>
            </a:outerShdw>
          </a:effectLst>
        </p:spPr>
      </p:sp>
      <p:sp>
        <p:nvSpPr>
          <p:cNvPr id="10" name="Shape 8"/>
          <p:cNvSpPr/>
          <p:nvPr/>
        </p:nvSpPr>
        <p:spPr>
          <a:xfrm>
            <a:off x="3355848" y="1124712"/>
            <a:ext cx="502920" cy="502920"/>
          </a:xfrm>
          <a:prstGeom prst="oval">
            <a:avLst/>
          </a:prstGeom>
          <a:solidFill>
            <a:srgbClr val="06D6A0">
              <a:alpha val="20000"/>
            </a:srgbClr>
          </a:solidFill>
          <a:ln/>
        </p:spPr>
      </p:sp>
      <p:sp>
        <p:nvSpPr>
          <p:cNvPr id="11" name="Text 9"/>
          <p:cNvSpPr/>
          <p:nvPr/>
        </p:nvSpPr>
        <p:spPr>
          <a:xfrm>
            <a:off x="3950208" y="1097280"/>
            <a:ext cx="1828800" cy="411480"/>
          </a:xfrm>
          <a:prstGeom prst="rect">
            <a:avLst/>
          </a:prstGeom>
          <a:noFill/>
          <a:ln/>
        </p:spPr>
        <p:txBody>
          <a:bodyPr wrap="square" lIns="0" tIns="0" rIns="0" bIns="0" rtlCol="0" anchor="ctr"/>
          <a:lstStyle/>
          <a:p>
            <a:pPr indent="0" marL="0">
              <a:buNone/>
            </a:pPr>
            <a:r>
              <a:rPr lang="en-US" sz="1200" b="1" dirty="0">
                <a:solidFill>
                  <a:srgbClr val="2D3F51"/>
                </a:solidFill>
                <a:latin typeface="Cambria" pitchFamily="34" charset="0"/>
                <a:ea typeface="Cambria" pitchFamily="34" charset="-122"/>
                <a:cs typeface="Cambria" pitchFamily="34" charset="-120"/>
              </a:rPr>
              <a:t>Banking</a:t>
            </a:r>
            <a:endParaRPr lang="en-US" sz="1200" dirty="0"/>
          </a:p>
        </p:txBody>
      </p:sp>
      <p:sp>
        <p:nvSpPr>
          <p:cNvPr id="12" name="Text 10"/>
          <p:cNvSpPr/>
          <p:nvPr/>
        </p:nvSpPr>
        <p:spPr>
          <a:xfrm>
            <a:off x="3264408" y="1618488"/>
            <a:ext cx="2514600" cy="777240"/>
          </a:xfrm>
          <a:prstGeom prst="rect">
            <a:avLst/>
          </a:prstGeom>
          <a:noFill/>
          <a:ln/>
        </p:spPr>
        <p:txBody>
          <a:bodyPr wrap="square" lIns="50800" tIns="50800" rIns="50800" bIns="50800" rtlCol="0" anchor="t"/>
          <a:lstStyle/>
          <a:p>
            <a:pPr indent="0" marL="0">
              <a:buNone/>
            </a:pPr>
            <a:r>
              <a:rPr lang="en-US" sz="1000" dirty="0">
                <a:solidFill>
                  <a:srgbClr val="7B9BB8"/>
                </a:solidFill>
                <a:latin typeface="Calibri" pitchFamily="34" charset="0"/>
                <a:ea typeface="Calibri" pitchFamily="34" charset="-122"/>
                <a:cs typeface="Calibri" pitchFamily="34" charset="-120"/>
              </a:rPr>
              <a:t>ICICI · HDFC · SBI</a:t>
            </a:r>
            <a:endParaRPr lang="en-US" sz="1000" dirty="0"/>
          </a:p>
        </p:txBody>
      </p:sp>
      <p:sp>
        <p:nvSpPr>
          <p:cNvPr id="13" name="Shape 11"/>
          <p:cNvSpPr/>
          <p:nvPr/>
        </p:nvSpPr>
        <p:spPr>
          <a:xfrm>
            <a:off x="6025896" y="960120"/>
            <a:ext cx="2697480" cy="1691640"/>
          </a:xfrm>
          <a:prstGeom prst="rect">
            <a:avLst>
              <a:gd name="adj" fmla="val 3243"/>
            </a:avLst>
          </a:prstGeom>
          <a:solidFill>
            <a:srgbClr val="F0F4F8"/>
          </a:solidFill>
          <a:ln w="6350">
            <a:solidFill>
              <a:srgbClr val="E2EBF3"/>
            </a:solidFill>
            <a:prstDash val="solid"/>
          </a:ln>
          <a:effectLst>
            <a:outerShdw sx="100000" sy="100000" kx="0" ky="0" algn="bl" rotWithShape="0" blurRad="127000" dist="38100" dir="2700000">
              <a:srgbClr val="000000">
                <a:alpha val="10000"/>
              </a:srgbClr>
            </a:outerShdw>
          </a:effectLst>
        </p:spPr>
      </p:sp>
      <p:sp>
        <p:nvSpPr>
          <p:cNvPr id="14" name="Shape 12"/>
          <p:cNvSpPr/>
          <p:nvPr/>
        </p:nvSpPr>
        <p:spPr>
          <a:xfrm>
            <a:off x="6208776" y="1124712"/>
            <a:ext cx="502920" cy="502920"/>
          </a:xfrm>
          <a:prstGeom prst="oval">
            <a:avLst/>
          </a:prstGeom>
          <a:solidFill>
            <a:srgbClr val="F59E0B">
              <a:alpha val="20000"/>
            </a:srgbClr>
          </a:solidFill>
          <a:ln/>
        </p:spPr>
      </p:sp>
      <p:sp>
        <p:nvSpPr>
          <p:cNvPr id="15" name="Text 13"/>
          <p:cNvSpPr/>
          <p:nvPr/>
        </p:nvSpPr>
        <p:spPr>
          <a:xfrm>
            <a:off x="6803136" y="1097280"/>
            <a:ext cx="1828800" cy="411480"/>
          </a:xfrm>
          <a:prstGeom prst="rect">
            <a:avLst/>
          </a:prstGeom>
          <a:noFill/>
          <a:ln/>
        </p:spPr>
        <p:txBody>
          <a:bodyPr wrap="square" lIns="0" tIns="0" rIns="0" bIns="0" rtlCol="0" anchor="ctr"/>
          <a:lstStyle/>
          <a:p>
            <a:pPr indent="0" marL="0">
              <a:buNone/>
            </a:pPr>
            <a:r>
              <a:rPr lang="en-US" sz="1200" b="1" dirty="0">
                <a:solidFill>
                  <a:srgbClr val="2D3F51"/>
                </a:solidFill>
                <a:latin typeface="Cambria" pitchFamily="34" charset="0"/>
                <a:ea typeface="Cambria" pitchFamily="34" charset="-122"/>
                <a:cs typeface="Cambria" pitchFamily="34" charset="-120"/>
              </a:rPr>
              <a:t>Cement</a:t>
            </a:r>
            <a:endParaRPr lang="en-US" sz="1200" dirty="0"/>
          </a:p>
        </p:txBody>
      </p:sp>
      <p:sp>
        <p:nvSpPr>
          <p:cNvPr id="16" name="Text 14"/>
          <p:cNvSpPr/>
          <p:nvPr/>
        </p:nvSpPr>
        <p:spPr>
          <a:xfrm>
            <a:off x="6117336" y="1618488"/>
            <a:ext cx="2514600" cy="777240"/>
          </a:xfrm>
          <a:prstGeom prst="rect">
            <a:avLst/>
          </a:prstGeom>
          <a:noFill/>
          <a:ln/>
        </p:spPr>
        <p:txBody>
          <a:bodyPr wrap="square" lIns="50800" tIns="50800" rIns="50800" bIns="50800" rtlCol="0" anchor="t"/>
          <a:lstStyle/>
          <a:p>
            <a:pPr indent="0" marL="0">
              <a:buNone/>
            </a:pPr>
            <a:r>
              <a:rPr lang="en-US" sz="1000" dirty="0">
                <a:solidFill>
                  <a:srgbClr val="7B9BB8"/>
                </a:solidFill>
                <a:latin typeface="Calibri" pitchFamily="34" charset="0"/>
                <a:ea typeface="Calibri" pitchFamily="34" charset="-122"/>
                <a:cs typeface="Calibri" pitchFamily="34" charset="-120"/>
              </a:rPr>
              <a:t>UltraTech · Ambuja</a:t>
            </a:r>
            <a:endParaRPr lang="en-US" sz="1000" dirty="0"/>
          </a:p>
        </p:txBody>
      </p:sp>
      <p:sp>
        <p:nvSpPr>
          <p:cNvPr id="17" name="Shape 15"/>
          <p:cNvSpPr/>
          <p:nvPr/>
        </p:nvSpPr>
        <p:spPr>
          <a:xfrm>
            <a:off x="320040" y="2862072"/>
            <a:ext cx="2697480" cy="1691640"/>
          </a:xfrm>
          <a:prstGeom prst="rect">
            <a:avLst>
              <a:gd name="adj" fmla="val 3243"/>
            </a:avLst>
          </a:prstGeom>
          <a:solidFill>
            <a:srgbClr val="F0F4F8"/>
          </a:solidFill>
          <a:ln w="6350">
            <a:solidFill>
              <a:srgbClr val="E2EBF3"/>
            </a:solidFill>
            <a:prstDash val="solid"/>
          </a:ln>
          <a:effectLst>
            <a:outerShdw sx="100000" sy="100000" kx="0" ky="0" algn="bl" rotWithShape="0" blurRad="127000" dist="38100" dir="2700000">
              <a:srgbClr val="000000">
                <a:alpha val="10000"/>
              </a:srgbClr>
            </a:outerShdw>
          </a:effectLst>
        </p:spPr>
      </p:sp>
      <p:sp>
        <p:nvSpPr>
          <p:cNvPr id="18" name="Shape 16"/>
          <p:cNvSpPr/>
          <p:nvPr/>
        </p:nvSpPr>
        <p:spPr>
          <a:xfrm>
            <a:off x="502920" y="3026664"/>
            <a:ext cx="502920" cy="502920"/>
          </a:xfrm>
          <a:prstGeom prst="oval">
            <a:avLst/>
          </a:prstGeom>
          <a:solidFill>
            <a:srgbClr val="EF4444">
              <a:alpha val="20000"/>
            </a:srgbClr>
          </a:solidFill>
          <a:ln/>
        </p:spPr>
      </p:sp>
      <p:sp>
        <p:nvSpPr>
          <p:cNvPr id="19" name="Text 17"/>
          <p:cNvSpPr/>
          <p:nvPr/>
        </p:nvSpPr>
        <p:spPr>
          <a:xfrm>
            <a:off x="1097280" y="2999232"/>
            <a:ext cx="1828800" cy="411480"/>
          </a:xfrm>
          <a:prstGeom prst="rect">
            <a:avLst/>
          </a:prstGeom>
          <a:noFill/>
          <a:ln/>
        </p:spPr>
        <p:txBody>
          <a:bodyPr wrap="square" lIns="0" tIns="0" rIns="0" bIns="0" rtlCol="0" anchor="ctr"/>
          <a:lstStyle/>
          <a:p>
            <a:pPr indent="0" marL="0">
              <a:buNone/>
            </a:pPr>
            <a:r>
              <a:rPr lang="en-US" sz="1200" b="1" dirty="0">
                <a:solidFill>
                  <a:srgbClr val="2D3F51"/>
                </a:solidFill>
                <a:latin typeface="Cambria" pitchFamily="34" charset="0"/>
                <a:ea typeface="Cambria" pitchFamily="34" charset="-122"/>
                <a:cs typeface="Cambria" pitchFamily="34" charset="-120"/>
              </a:rPr>
              <a:t>Heavy Industry</a:t>
            </a:r>
            <a:endParaRPr lang="en-US" sz="1200" dirty="0"/>
          </a:p>
        </p:txBody>
      </p:sp>
      <p:sp>
        <p:nvSpPr>
          <p:cNvPr id="20" name="Text 18"/>
          <p:cNvSpPr/>
          <p:nvPr/>
        </p:nvSpPr>
        <p:spPr>
          <a:xfrm>
            <a:off x="411480" y="3520440"/>
            <a:ext cx="2514600" cy="777240"/>
          </a:xfrm>
          <a:prstGeom prst="rect">
            <a:avLst/>
          </a:prstGeom>
          <a:noFill/>
          <a:ln/>
        </p:spPr>
        <p:txBody>
          <a:bodyPr wrap="square" lIns="50800" tIns="50800" rIns="50800" bIns="50800" rtlCol="0" anchor="t"/>
          <a:lstStyle/>
          <a:p>
            <a:pPr indent="0" marL="0">
              <a:buNone/>
            </a:pPr>
            <a:r>
              <a:rPr lang="en-US" sz="1000" dirty="0">
                <a:solidFill>
                  <a:srgbClr val="7B9BB8"/>
                </a:solidFill>
                <a:latin typeface="Calibri" pitchFamily="34" charset="0"/>
                <a:ea typeface="Calibri" pitchFamily="34" charset="-122"/>
                <a:cs typeface="Calibri" pitchFamily="34" charset="-120"/>
              </a:rPr>
              <a:t>Tata Steel</a:t>
            </a:r>
            <a:endParaRPr lang="en-US" sz="1000" dirty="0"/>
          </a:p>
        </p:txBody>
      </p:sp>
      <p:sp>
        <p:nvSpPr>
          <p:cNvPr id="21" name="Shape 19"/>
          <p:cNvSpPr/>
          <p:nvPr/>
        </p:nvSpPr>
        <p:spPr>
          <a:xfrm>
            <a:off x="3172968" y="2862072"/>
            <a:ext cx="2697480" cy="1691640"/>
          </a:xfrm>
          <a:prstGeom prst="rect">
            <a:avLst>
              <a:gd name="adj" fmla="val 3243"/>
            </a:avLst>
          </a:prstGeom>
          <a:solidFill>
            <a:srgbClr val="F0F4F8"/>
          </a:solidFill>
          <a:ln w="6350">
            <a:solidFill>
              <a:srgbClr val="E2EBF3"/>
            </a:solidFill>
            <a:prstDash val="solid"/>
          </a:ln>
          <a:effectLst>
            <a:outerShdw sx="100000" sy="100000" kx="0" ky="0" algn="bl" rotWithShape="0" blurRad="127000" dist="38100" dir="2700000">
              <a:srgbClr val="000000">
                <a:alpha val="10000"/>
              </a:srgbClr>
            </a:outerShdw>
          </a:effectLst>
        </p:spPr>
      </p:sp>
      <p:sp>
        <p:nvSpPr>
          <p:cNvPr id="22" name="Shape 20"/>
          <p:cNvSpPr/>
          <p:nvPr/>
        </p:nvSpPr>
        <p:spPr>
          <a:xfrm>
            <a:off x="3355848" y="3026664"/>
            <a:ext cx="502920" cy="502920"/>
          </a:xfrm>
          <a:prstGeom prst="oval">
            <a:avLst/>
          </a:prstGeom>
          <a:solidFill>
            <a:srgbClr val="A855F7">
              <a:alpha val="20000"/>
            </a:srgbClr>
          </a:solidFill>
          <a:ln/>
        </p:spPr>
      </p:sp>
      <p:sp>
        <p:nvSpPr>
          <p:cNvPr id="23" name="Text 21"/>
          <p:cNvSpPr/>
          <p:nvPr/>
        </p:nvSpPr>
        <p:spPr>
          <a:xfrm>
            <a:off x="3950208" y="2999232"/>
            <a:ext cx="1828800" cy="411480"/>
          </a:xfrm>
          <a:prstGeom prst="rect">
            <a:avLst/>
          </a:prstGeom>
          <a:noFill/>
          <a:ln/>
        </p:spPr>
        <p:txBody>
          <a:bodyPr wrap="square" lIns="0" tIns="0" rIns="0" bIns="0" rtlCol="0" anchor="ctr"/>
          <a:lstStyle/>
          <a:p>
            <a:pPr indent="0" marL="0">
              <a:buNone/>
            </a:pPr>
            <a:r>
              <a:rPr lang="en-US" sz="1200" b="1" dirty="0">
                <a:solidFill>
                  <a:srgbClr val="2D3F51"/>
                </a:solidFill>
                <a:latin typeface="Cambria" pitchFamily="34" charset="0"/>
                <a:ea typeface="Cambria" pitchFamily="34" charset="-122"/>
                <a:cs typeface="Cambria" pitchFamily="34" charset="-120"/>
              </a:rPr>
              <a:t>Pharma</a:t>
            </a:r>
            <a:endParaRPr lang="en-US" sz="1200" dirty="0"/>
          </a:p>
        </p:txBody>
      </p:sp>
      <p:sp>
        <p:nvSpPr>
          <p:cNvPr id="24" name="Text 22"/>
          <p:cNvSpPr/>
          <p:nvPr/>
        </p:nvSpPr>
        <p:spPr>
          <a:xfrm>
            <a:off x="3264408" y="3520440"/>
            <a:ext cx="2514600" cy="777240"/>
          </a:xfrm>
          <a:prstGeom prst="rect">
            <a:avLst/>
          </a:prstGeom>
          <a:noFill/>
          <a:ln/>
        </p:spPr>
        <p:txBody>
          <a:bodyPr wrap="square" lIns="50800" tIns="50800" rIns="50800" bIns="50800" rtlCol="0" anchor="t"/>
          <a:lstStyle/>
          <a:p>
            <a:pPr indent="0" marL="0">
              <a:buNone/>
            </a:pPr>
            <a:r>
              <a:rPr lang="en-US" sz="1000" dirty="0">
                <a:solidFill>
                  <a:srgbClr val="7B9BB8"/>
                </a:solidFill>
                <a:latin typeface="Calibri" pitchFamily="34" charset="0"/>
                <a:ea typeface="Calibri" pitchFamily="34" charset="-122"/>
                <a:cs typeface="Calibri" pitchFamily="34" charset="-120"/>
              </a:rPr>
              <a:t>Cipla · Sun Pharma · Dr. Reddy's</a:t>
            </a:r>
            <a:endParaRPr lang="en-US" sz="1000" dirty="0"/>
          </a:p>
        </p:txBody>
      </p:sp>
      <p:sp>
        <p:nvSpPr>
          <p:cNvPr id="25" name="Shape 23"/>
          <p:cNvSpPr/>
          <p:nvPr/>
        </p:nvSpPr>
        <p:spPr>
          <a:xfrm>
            <a:off x="6025896" y="2862072"/>
            <a:ext cx="2697480" cy="1691640"/>
          </a:xfrm>
          <a:prstGeom prst="rect">
            <a:avLst>
              <a:gd name="adj" fmla="val 3243"/>
            </a:avLst>
          </a:prstGeom>
          <a:solidFill>
            <a:srgbClr val="F0F4F8"/>
          </a:solidFill>
          <a:ln w="6350">
            <a:solidFill>
              <a:srgbClr val="E2EBF3"/>
            </a:solidFill>
            <a:prstDash val="solid"/>
          </a:ln>
          <a:effectLst>
            <a:outerShdw sx="100000" sy="100000" kx="0" ky="0" algn="bl" rotWithShape="0" blurRad="127000" dist="38100" dir="2700000">
              <a:srgbClr val="000000">
                <a:alpha val="10000"/>
              </a:srgbClr>
            </a:outerShdw>
          </a:effectLst>
        </p:spPr>
      </p:sp>
      <p:sp>
        <p:nvSpPr>
          <p:cNvPr id="26" name="Shape 24"/>
          <p:cNvSpPr/>
          <p:nvPr/>
        </p:nvSpPr>
        <p:spPr>
          <a:xfrm>
            <a:off x="6208776" y="3026664"/>
            <a:ext cx="502920" cy="502920"/>
          </a:xfrm>
          <a:prstGeom prst="oval">
            <a:avLst/>
          </a:prstGeom>
          <a:solidFill>
            <a:srgbClr val="F97316">
              <a:alpha val="20000"/>
            </a:srgbClr>
          </a:solidFill>
          <a:ln/>
        </p:spPr>
      </p:sp>
      <p:sp>
        <p:nvSpPr>
          <p:cNvPr id="27" name="Text 25"/>
          <p:cNvSpPr/>
          <p:nvPr/>
        </p:nvSpPr>
        <p:spPr>
          <a:xfrm>
            <a:off x="6803136" y="2999232"/>
            <a:ext cx="1828800" cy="411480"/>
          </a:xfrm>
          <a:prstGeom prst="rect">
            <a:avLst/>
          </a:prstGeom>
          <a:noFill/>
          <a:ln/>
        </p:spPr>
        <p:txBody>
          <a:bodyPr wrap="square" lIns="0" tIns="0" rIns="0" bIns="0" rtlCol="0" anchor="ctr"/>
          <a:lstStyle/>
          <a:p>
            <a:pPr indent="0" marL="0">
              <a:buNone/>
            </a:pPr>
            <a:r>
              <a:rPr lang="en-US" sz="1200" b="1" dirty="0">
                <a:solidFill>
                  <a:srgbClr val="2D3F51"/>
                </a:solidFill>
                <a:latin typeface="Cambria" pitchFamily="34" charset="0"/>
                <a:ea typeface="Cambria" pitchFamily="34" charset="-122"/>
                <a:cs typeface="Cambria" pitchFamily="34" charset="-120"/>
              </a:rPr>
              <a:t>Auto</a:t>
            </a:r>
            <a:endParaRPr lang="en-US" sz="1200" dirty="0"/>
          </a:p>
        </p:txBody>
      </p:sp>
      <p:sp>
        <p:nvSpPr>
          <p:cNvPr id="28" name="Text 26"/>
          <p:cNvSpPr/>
          <p:nvPr/>
        </p:nvSpPr>
        <p:spPr>
          <a:xfrm>
            <a:off x="6117336" y="3520440"/>
            <a:ext cx="2514600" cy="777240"/>
          </a:xfrm>
          <a:prstGeom prst="rect">
            <a:avLst/>
          </a:prstGeom>
          <a:noFill/>
          <a:ln/>
        </p:spPr>
        <p:txBody>
          <a:bodyPr wrap="square" lIns="50800" tIns="50800" rIns="50800" bIns="50800" rtlCol="0" anchor="t"/>
          <a:lstStyle/>
          <a:p>
            <a:pPr indent="0" marL="0">
              <a:buNone/>
            </a:pPr>
            <a:r>
              <a:rPr lang="en-US" sz="1000" dirty="0">
                <a:solidFill>
                  <a:srgbClr val="7B9BB8"/>
                </a:solidFill>
                <a:latin typeface="Calibri" pitchFamily="34" charset="0"/>
                <a:ea typeface="Calibri" pitchFamily="34" charset="-122"/>
                <a:cs typeface="Calibri" pitchFamily="34" charset="-120"/>
              </a:rPr>
              <a:t>Tata Motors · Maruti · M&amp;M</a:t>
            </a:r>
            <a:endParaRPr lang="en-US" sz="1000" dirty="0"/>
          </a:p>
        </p:txBody>
      </p:sp>
      <p:sp>
        <p:nvSpPr>
          <p:cNvPr id="29" name="Text 27"/>
          <p:cNvSpPr/>
          <p:nvPr/>
        </p:nvSpPr>
        <p:spPr>
          <a:xfrm>
            <a:off x="320040" y="4663440"/>
            <a:ext cx="8503920" cy="292608"/>
          </a:xfrm>
          <a:prstGeom prst="rect">
            <a:avLst/>
          </a:prstGeom>
          <a:noFill/>
          <a:ln/>
        </p:spPr>
        <p:txBody>
          <a:bodyPr wrap="square" lIns="0" tIns="0" rIns="0" bIns="0" rtlCol="0" anchor="ctr"/>
          <a:lstStyle/>
          <a:p>
            <a:pPr indent="0" marL="0">
              <a:buNone/>
            </a:pPr>
            <a:r>
              <a:rPr lang="en-US" sz="900" i="1" dirty="0">
                <a:solidFill>
                  <a:srgbClr val="7B9BB8"/>
                </a:solidFill>
                <a:latin typeface="Calibri" pitchFamily="34" charset="0"/>
                <a:ea typeface="Calibri" pitchFamily="34" charset="-122"/>
                <a:cs typeface="Calibri" pitchFamily="34" charset="-120"/>
              </a:rPr>
              <a:t>All reports are publicly filed with NSE / BSE under SEBI LODR Regulations. Source URLs are documented in data/raw/ for full reproducibility.</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2137"/>
          </a:solidFill>
          <a:ln/>
        </p:spPr>
      </p:sp>
      <p:sp>
        <p:nvSpPr>
          <p:cNvPr id="3" name="Text 1"/>
          <p:cNvSpPr/>
          <p:nvPr/>
        </p:nvSpPr>
        <p:spPr>
          <a:xfrm>
            <a:off x="365760" y="0"/>
            <a:ext cx="7315200" cy="7772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Methodology: 5-Component Composite Greenwashing Risk Score (GRS)</a:t>
            </a:r>
            <a:endParaRPr lang="en-US" sz="2200" dirty="0"/>
          </a:p>
        </p:txBody>
      </p:sp>
      <p:sp>
        <p:nvSpPr>
          <p:cNvPr id="4" name="Text 2"/>
          <p:cNvSpPr/>
          <p:nvPr/>
        </p:nvSpPr>
        <p:spPr>
          <a:xfrm>
            <a:off x="274320" y="4892040"/>
            <a:ext cx="8595360" cy="182880"/>
          </a:xfrm>
          <a:prstGeom prst="rect">
            <a:avLst/>
          </a:prstGeom>
          <a:noFill/>
          <a:ln/>
        </p:spPr>
        <p:txBody>
          <a:bodyPr wrap="square" lIns="0" tIns="0" rIns="0" bIns="0" rtlCol="0" anchor="ctr"/>
          <a:lstStyle/>
          <a:p>
            <a:pPr algn="ctr" indent="0" marL="0">
              <a:buNone/>
            </a:pPr>
            <a:r>
              <a:rPr lang="en-US" sz="700" dirty="0">
                <a:solidFill>
                  <a:srgbClr val="7B9BB8"/>
                </a:solidFill>
                <a:latin typeface="Calibri" pitchFamily="34" charset="0"/>
                <a:ea typeface="Calibri" pitchFamily="34" charset="-122"/>
                <a:cs typeface="Calibri" pitchFamily="34" charset="-120"/>
              </a:rPr>
              <a:t>BRSR Greenwashing Risk Screener  |  NLP Analysis, FY2022–25  |  [Your Name], June 2026</a:t>
            </a:r>
            <a:endParaRPr lang="en-US" sz="700" dirty="0"/>
          </a:p>
        </p:txBody>
      </p:sp>
      <p:sp>
        <p:nvSpPr>
          <p:cNvPr id="5" name="Shape 3"/>
          <p:cNvSpPr/>
          <p:nvPr/>
        </p:nvSpPr>
        <p:spPr>
          <a:xfrm>
            <a:off x="320040" y="960120"/>
            <a:ext cx="8503920" cy="822960"/>
          </a:xfrm>
          <a:prstGeom prst="rect">
            <a:avLst>
              <a:gd name="adj" fmla="val 6667"/>
            </a:avLst>
          </a:prstGeom>
          <a:solidFill>
            <a:srgbClr val="F0F4F8"/>
          </a:solidFill>
          <a:ln w="6350">
            <a:solidFill>
              <a:srgbClr val="E2EBF3"/>
            </a:solidFill>
            <a:prstDash val="solid"/>
          </a:ln>
          <a:effectLst>
            <a:outerShdw sx="100000" sy="100000" kx="0" ky="0" algn="bl" rotWithShape="0" blurRad="127000" dist="38100" dir="2700000">
              <a:srgbClr val="000000">
                <a:alpha val="10000"/>
              </a:srgbClr>
            </a:outerShdw>
          </a:effectLst>
        </p:spPr>
      </p:sp>
      <p:sp>
        <p:nvSpPr>
          <p:cNvPr id="6" name="Shape 4"/>
          <p:cNvSpPr/>
          <p:nvPr/>
        </p:nvSpPr>
        <p:spPr>
          <a:xfrm>
            <a:off x="320040" y="960120"/>
            <a:ext cx="685800" cy="822960"/>
          </a:xfrm>
          <a:prstGeom prst="rect">
            <a:avLst>
              <a:gd name="adj" fmla="val 8000"/>
            </a:avLst>
          </a:prstGeom>
          <a:solidFill>
            <a:srgbClr val="3B82F6">
              <a:alpha val="85000"/>
            </a:srgbClr>
          </a:solidFill>
          <a:ln/>
        </p:spPr>
      </p:sp>
      <p:sp>
        <p:nvSpPr>
          <p:cNvPr id="7" name="Text 5"/>
          <p:cNvSpPr/>
          <p:nvPr/>
        </p:nvSpPr>
        <p:spPr>
          <a:xfrm>
            <a:off x="320040" y="1051560"/>
            <a:ext cx="68580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SR</a:t>
            </a:r>
            <a:endParaRPr lang="en-US" sz="1500" dirty="0"/>
          </a:p>
        </p:txBody>
      </p:sp>
      <p:sp>
        <p:nvSpPr>
          <p:cNvPr id="8" name="Text 6"/>
          <p:cNvSpPr/>
          <p:nvPr/>
        </p:nvSpPr>
        <p:spPr>
          <a:xfrm>
            <a:off x="1143000" y="1014984"/>
            <a:ext cx="6583680" cy="329184"/>
          </a:xfrm>
          <a:prstGeom prst="rect">
            <a:avLst/>
          </a:prstGeom>
          <a:noFill/>
          <a:ln/>
        </p:spPr>
        <p:txBody>
          <a:bodyPr wrap="square" lIns="0" tIns="0" rIns="0" bIns="0" rtlCol="0" anchor="b"/>
          <a:lstStyle/>
          <a:p>
            <a:pPr indent="0" marL="0">
              <a:buNone/>
            </a:pPr>
            <a:r>
              <a:rPr lang="en-US" sz="1200" b="1" dirty="0">
                <a:solidFill>
                  <a:srgbClr val="2D3F51"/>
                </a:solidFill>
                <a:latin typeface="Cambria" pitchFamily="34" charset="0"/>
                <a:ea typeface="Cambria" pitchFamily="34" charset="-122"/>
                <a:cs typeface="Cambria" pitchFamily="34" charset="-120"/>
              </a:rPr>
              <a:t>Specificity Ratio — Weight: 40%</a:t>
            </a:r>
            <a:endParaRPr lang="en-US" sz="1200" dirty="0"/>
          </a:p>
        </p:txBody>
      </p:sp>
      <p:sp>
        <p:nvSpPr>
          <p:cNvPr id="9" name="Text 7"/>
          <p:cNvSpPr/>
          <p:nvPr/>
        </p:nvSpPr>
        <p:spPr>
          <a:xfrm>
            <a:off x="1143000" y="1362456"/>
            <a:ext cx="6583680" cy="347472"/>
          </a:xfrm>
          <a:prstGeom prst="rect">
            <a:avLst/>
          </a:prstGeom>
          <a:noFill/>
          <a:ln/>
        </p:spPr>
        <p:txBody>
          <a:bodyPr wrap="square" lIns="0" tIns="0" rIns="0" bIns="0" rtlCol="0" anchor="t"/>
          <a:lstStyle/>
          <a:p>
            <a:pPr indent="0" marL="0">
              <a:buNone/>
            </a:pPr>
            <a:r>
              <a:rPr lang="en-US" sz="1000" dirty="0">
                <a:solidFill>
                  <a:srgbClr val="7B9BB8"/>
                </a:solidFill>
                <a:latin typeface="Calibri" pitchFamily="34" charset="0"/>
                <a:ea typeface="Calibri" pitchFamily="34" charset="-122"/>
                <a:cs typeface="Calibri" pitchFamily="34" charset="-120"/>
              </a:rPr>
              <a:t>Fraction of sentences containing a quantified claim (number + unit). The primary signal.</a:t>
            </a:r>
            <a:endParaRPr lang="en-US" sz="1000" dirty="0"/>
          </a:p>
        </p:txBody>
      </p:sp>
      <p:sp>
        <p:nvSpPr>
          <p:cNvPr id="10" name="Shape 8"/>
          <p:cNvSpPr/>
          <p:nvPr/>
        </p:nvSpPr>
        <p:spPr>
          <a:xfrm>
            <a:off x="320040" y="1901952"/>
            <a:ext cx="8503920" cy="822960"/>
          </a:xfrm>
          <a:prstGeom prst="rect">
            <a:avLst>
              <a:gd name="adj" fmla="val 6667"/>
            </a:avLst>
          </a:prstGeom>
          <a:solidFill>
            <a:srgbClr val="F0F4F8"/>
          </a:solidFill>
          <a:ln w="6350">
            <a:solidFill>
              <a:srgbClr val="E2EBF3"/>
            </a:solidFill>
            <a:prstDash val="solid"/>
          </a:ln>
          <a:effectLst>
            <a:outerShdw sx="100000" sy="100000" kx="0" ky="0" algn="bl" rotWithShape="0" blurRad="127000" dist="38100" dir="2700000">
              <a:srgbClr val="000000">
                <a:alpha val="10000"/>
              </a:srgbClr>
            </a:outerShdw>
          </a:effectLst>
        </p:spPr>
      </p:sp>
      <p:sp>
        <p:nvSpPr>
          <p:cNvPr id="11" name="Shape 9"/>
          <p:cNvSpPr/>
          <p:nvPr/>
        </p:nvSpPr>
        <p:spPr>
          <a:xfrm>
            <a:off x="320040" y="1901952"/>
            <a:ext cx="685800" cy="822960"/>
          </a:xfrm>
          <a:prstGeom prst="rect">
            <a:avLst>
              <a:gd name="adj" fmla="val 8000"/>
            </a:avLst>
          </a:prstGeom>
          <a:solidFill>
            <a:srgbClr val="06D6A0">
              <a:alpha val="85000"/>
            </a:srgbClr>
          </a:solidFill>
          <a:ln/>
        </p:spPr>
      </p:sp>
      <p:sp>
        <p:nvSpPr>
          <p:cNvPr id="12" name="Text 10"/>
          <p:cNvSpPr/>
          <p:nvPr/>
        </p:nvSpPr>
        <p:spPr>
          <a:xfrm>
            <a:off x="320040" y="1993392"/>
            <a:ext cx="68580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AVVR</a:t>
            </a:r>
            <a:endParaRPr lang="en-US" sz="1500" dirty="0"/>
          </a:p>
        </p:txBody>
      </p:sp>
      <p:sp>
        <p:nvSpPr>
          <p:cNvPr id="13" name="Text 11"/>
          <p:cNvSpPr/>
          <p:nvPr/>
        </p:nvSpPr>
        <p:spPr>
          <a:xfrm>
            <a:off x="1143000" y="1956816"/>
            <a:ext cx="6583680" cy="329184"/>
          </a:xfrm>
          <a:prstGeom prst="rect">
            <a:avLst/>
          </a:prstGeom>
          <a:noFill/>
          <a:ln/>
        </p:spPr>
        <p:txBody>
          <a:bodyPr wrap="square" lIns="0" tIns="0" rIns="0" bIns="0" rtlCol="0" anchor="b"/>
          <a:lstStyle/>
          <a:p>
            <a:pPr indent="0" marL="0">
              <a:buNone/>
            </a:pPr>
            <a:r>
              <a:rPr lang="en-US" sz="1200" b="1" dirty="0">
                <a:solidFill>
                  <a:srgbClr val="2D3F51"/>
                </a:solidFill>
                <a:latin typeface="Cambria" pitchFamily="34" charset="0"/>
                <a:ea typeface="Cambria" pitchFamily="34" charset="-122"/>
                <a:cs typeface="Cambria" pitchFamily="34" charset="-120"/>
              </a:rPr>
              <a:t>Action-Vague Verb Ratio — Weight: 25%</a:t>
            </a:r>
            <a:endParaRPr lang="en-US" sz="1200" dirty="0"/>
          </a:p>
        </p:txBody>
      </p:sp>
      <p:sp>
        <p:nvSpPr>
          <p:cNvPr id="14" name="Text 12"/>
          <p:cNvSpPr/>
          <p:nvPr/>
        </p:nvSpPr>
        <p:spPr>
          <a:xfrm>
            <a:off x="1143000" y="2304288"/>
            <a:ext cx="6583680" cy="347472"/>
          </a:xfrm>
          <a:prstGeom prst="rect">
            <a:avLst/>
          </a:prstGeom>
          <a:noFill/>
          <a:ln/>
        </p:spPr>
        <p:txBody>
          <a:bodyPr wrap="square" lIns="0" tIns="0" rIns="0" bIns="0" rtlCol="0" anchor="t"/>
          <a:lstStyle/>
          <a:p>
            <a:pPr indent="0" marL="0">
              <a:buNone/>
            </a:pPr>
            <a:r>
              <a:rPr lang="en-US" sz="1000" dirty="0">
                <a:solidFill>
                  <a:srgbClr val="7B9BB8"/>
                </a:solidFill>
                <a:latin typeface="Calibri" pitchFamily="34" charset="0"/>
                <a:ea typeface="Calibri" pitchFamily="34" charset="-122"/>
                <a:cs typeface="Calibri" pitchFamily="34" charset="-120"/>
              </a:rPr>
              <a:t>'Achieved / certified / reduced' vs 'aims / aspires / seeks'. Completed vs. aspirational.</a:t>
            </a:r>
            <a:endParaRPr lang="en-US" sz="1000" dirty="0"/>
          </a:p>
        </p:txBody>
      </p:sp>
      <p:sp>
        <p:nvSpPr>
          <p:cNvPr id="15" name="Shape 13"/>
          <p:cNvSpPr/>
          <p:nvPr/>
        </p:nvSpPr>
        <p:spPr>
          <a:xfrm>
            <a:off x="320040" y="2843784"/>
            <a:ext cx="8503920" cy="822960"/>
          </a:xfrm>
          <a:prstGeom prst="rect">
            <a:avLst>
              <a:gd name="adj" fmla="val 6667"/>
            </a:avLst>
          </a:prstGeom>
          <a:solidFill>
            <a:srgbClr val="F0F4F8"/>
          </a:solidFill>
          <a:ln w="6350">
            <a:solidFill>
              <a:srgbClr val="E2EBF3"/>
            </a:solidFill>
            <a:prstDash val="solid"/>
          </a:ln>
          <a:effectLst>
            <a:outerShdw sx="100000" sy="100000" kx="0" ky="0" algn="bl" rotWithShape="0" blurRad="127000" dist="38100" dir="2700000">
              <a:srgbClr val="000000">
                <a:alpha val="10000"/>
              </a:srgbClr>
            </a:outerShdw>
          </a:effectLst>
        </p:spPr>
      </p:sp>
      <p:sp>
        <p:nvSpPr>
          <p:cNvPr id="16" name="Shape 14"/>
          <p:cNvSpPr/>
          <p:nvPr/>
        </p:nvSpPr>
        <p:spPr>
          <a:xfrm>
            <a:off x="320040" y="2843784"/>
            <a:ext cx="685800" cy="822960"/>
          </a:xfrm>
          <a:prstGeom prst="rect">
            <a:avLst>
              <a:gd name="adj" fmla="val 8000"/>
            </a:avLst>
          </a:prstGeom>
          <a:solidFill>
            <a:srgbClr val="A855F7">
              <a:alpha val="85000"/>
            </a:srgbClr>
          </a:solidFill>
          <a:ln/>
        </p:spPr>
      </p:sp>
      <p:sp>
        <p:nvSpPr>
          <p:cNvPr id="17" name="Text 15"/>
          <p:cNvSpPr/>
          <p:nvPr/>
        </p:nvSpPr>
        <p:spPr>
          <a:xfrm>
            <a:off x="320040" y="2935224"/>
            <a:ext cx="68580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BD</a:t>
            </a:r>
            <a:endParaRPr lang="en-US" sz="1500" dirty="0"/>
          </a:p>
        </p:txBody>
      </p:sp>
      <p:sp>
        <p:nvSpPr>
          <p:cNvPr id="18" name="Text 16"/>
          <p:cNvSpPr/>
          <p:nvPr/>
        </p:nvSpPr>
        <p:spPr>
          <a:xfrm>
            <a:off x="1143000" y="2898648"/>
            <a:ext cx="6583680" cy="329184"/>
          </a:xfrm>
          <a:prstGeom prst="rect">
            <a:avLst/>
          </a:prstGeom>
          <a:noFill/>
          <a:ln/>
        </p:spPr>
        <p:txBody>
          <a:bodyPr wrap="square" lIns="0" tIns="0" rIns="0" bIns="0" rtlCol="0" anchor="b"/>
          <a:lstStyle/>
          <a:p>
            <a:pPr indent="0" marL="0">
              <a:buNone/>
            </a:pPr>
            <a:r>
              <a:rPr lang="en-US" sz="1200" b="1" dirty="0">
                <a:solidFill>
                  <a:srgbClr val="2D3F51"/>
                </a:solidFill>
                <a:latin typeface="Cambria" pitchFamily="34" charset="0"/>
                <a:ea typeface="Cambria" pitchFamily="34" charset="-122"/>
                <a:cs typeface="Cambria" pitchFamily="34" charset="-120"/>
              </a:rPr>
              <a:t>Boilerplate Density — Weight: 20%</a:t>
            </a:r>
            <a:endParaRPr lang="en-US" sz="1200" dirty="0"/>
          </a:p>
        </p:txBody>
      </p:sp>
      <p:sp>
        <p:nvSpPr>
          <p:cNvPr id="19" name="Text 17"/>
          <p:cNvSpPr/>
          <p:nvPr/>
        </p:nvSpPr>
        <p:spPr>
          <a:xfrm>
            <a:off x="1143000" y="3246120"/>
            <a:ext cx="6583680" cy="347472"/>
          </a:xfrm>
          <a:prstGeom prst="rect">
            <a:avLst/>
          </a:prstGeom>
          <a:noFill/>
          <a:ln/>
        </p:spPr>
        <p:txBody>
          <a:bodyPr wrap="square" lIns="0" tIns="0" rIns="0" bIns="0" rtlCol="0" anchor="t"/>
          <a:lstStyle/>
          <a:p>
            <a:pPr indent="0" marL="0">
              <a:buNone/>
            </a:pPr>
            <a:r>
              <a:rPr lang="en-US" sz="1000" dirty="0">
                <a:solidFill>
                  <a:srgbClr val="7B9BB8"/>
                </a:solidFill>
                <a:latin typeface="Calibri" pitchFamily="34" charset="0"/>
                <a:ea typeface="Calibri" pitchFamily="34" charset="-122"/>
                <a:cs typeface="Calibri" pitchFamily="34" charset="-120"/>
              </a:rPr>
              <a:t>Fraction of text matching known BRSR regulatory stock phrases — copy-paste, not original.</a:t>
            </a:r>
            <a:endParaRPr lang="en-US" sz="1000" dirty="0"/>
          </a:p>
        </p:txBody>
      </p:sp>
      <p:sp>
        <p:nvSpPr>
          <p:cNvPr id="20" name="Shape 18"/>
          <p:cNvSpPr/>
          <p:nvPr/>
        </p:nvSpPr>
        <p:spPr>
          <a:xfrm>
            <a:off x="320040" y="3785616"/>
            <a:ext cx="8503920" cy="822960"/>
          </a:xfrm>
          <a:prstGeom prst="rect">
            <a:avLst>
              <a:gd name="adj" fmla="val 6667"/>
            </a:avLst>
          </a:prstGeom>
          <a:solidFill>
            <a:srgbClr val="F0F4F8"/>
          </a:solidFill>
          <a:ln w="6350">
            <a:solidFill>
              <a:srgbClr val="E2EBF3"/>
            </a:solidFill>
            <a:prstDash val="solid"/>
          </a:ln>
          <a:effectLst>
            <a:outerShdw sx="100000" sy="100000" kx="0" ky="0" algn="bl" rotWithShape="0" blurRad="127000" dist="38100" dir="2700000">
              <a:srgbClr val="000000">
                <a:alpha val="10000"/>
              </a:srgbClr>
            </a:outerShdw>
          </a:effectLst>
        </p:spPr>
      </p:sp>
      <p:sp>
        <p:nvSpPr>
          <p:cNvPr id="21" name="Shape 19"/>
          <p:cNvSpPr/>
          <p:nvPr/>
        </p:nvSpPr>
        <p:spPr>
          <a:xfrm>
            <a:off x="320040" y="3785616"/>
            <a:ext cx="685800" cy="822960"/>
          </a:xfrm>
          <a:prstGeom prst="rect">
            <a:avLst>
              <a:gd name="adj" fmla="val 8000"/>
            </a:avLst>
          </a:prstGeom>
          <a:solidFill>
            <a:srgbClr val="F59E0B">
              <a:alpha val="85000"/>
            </a:srgbClr>
          </a:solidFill>
          <a:ln/>
        </p:spPr>
      </p:sp>
      <p:sp>
        <p:nvSpPr>
          <p:cNvPr id="22" name="Text 20"/>
          <p:cNvSpPr/>
          <p:nvPr/>
        </p:nvSpPr>
        <p:spPr>
          <a:xfrm>
            <a:off x="320040" y="3877056"/>
            <a:ext cx="68580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LM</a:t>
            </a:r>
            <a:endParaRPr lang="en-US" sz="1500" dirty="0"/>
          </a:p>
        </p:txBody>
      </p:sp>
      <p:sp>
        <p:nvSpPr>
          <p:cNvPr id="23" name="Text 21"/>
          <p:cNvSpPr/>
          <p:nvPr/>
        </p:nvSpPr>
        <p:spPr>
          <a:xfrm>
            <a:off x="1143000" y="3840480"/>
            <a:ext cx="6583680" cy="329184"/>
          </a:xfrm>
          <a:prstGeom prst="rect">
            <a:avLst/>
          </a:prstGeom>
          <a:noFill/>
          <a:ln/>
        </p:spPr>
        <p:txBody>
          <a:bodyPr wrap="square" lIns="0" tIns="0" rIns="0" bIns="0" rtlCol="0" anchor="b"/>
          <a:lstStyle/>
          <a:p>
            <a:pPr indent="0" marL="0">
              <a:buNone/>
            </a:pPr>
            <a:r>
              <a:rPr lang="en-US" sz="1200" b="1" dirty="0">
                <a:solidFill>
                  <a:srgbClr val="2D3F51"/>
                </a:solidFill>
                <a:latin typeface="Cambria" pitchFamily="34" charset="0"/>
                <a:ea typeface="Cambria" pitchFamily="34" charset="-122"/>
                <a:cs typeface="Cambria" pitchFamily="34" charset="-120"/>
              </a:rPr>
              <a:t>LM Finance Sentiment — Weight: 15%</a:t>
            </a:r>
            <a:endParaRPr lang="en-US" sz="1200" dirty="0"/>
          </a:p>
        </p:txBody>
      </p:sp>
      <p:sp>
        <p:nvSpPr>
          <p:cNvPr id="24" name="Text 22"/>
          <p:cNvSpPr/>
          <p:nvPr/>
        </p:nvSpPr>
        <p:spPr>
          <a:xfrm>
            <a:off x="1143000" y="4187952"/>
            <a:ext cx="6583680" cy="347472"/>
          </a:xfrm>
          <a:prstGeom prst="rect">
            <a:avLst/>
          </a:prstGeom>
          <a:noFill/>
          <a:ln/>
        </p:spPr>
        <p:txBody>
          <a:bodyPr wrap="square" lIns="0" tIns="0" rIns="0" bIns="0" rtlCol="0" anchor="t"/>
          <a:lstStyle/>
          <a:p>
            <a:pPr indent="0" marL="0">
              <a:buNone/>
            </a:pPr>
            <a:r>
              <a:rPr lang="en-US" sz="1000" dirty="0">
                <a:solidFill>
                  <a:srgbClr val="7B9BB8"/>
                </a:solidFill>
                <a:latin typeface="Calibri" pitchFamily="34" charset="0"/>
                <a:ea typeface="Calibri" pitchFamily="34" charset="-122"/>
                <a:cs typeface="Calibri" pitchFamily="34" charset="-120"/>
              </a:rPr>
              <a:t>Loughran-McDonald (2011) negative word density. Risk-heavy language without numeric grounding.</a:t>
            </a:r>
            <a:endParaRPr lang="en-US" sz="1000" dirty="0"/>
          </a:p>
        </p:txBody>
      </p:sp>
      <p:sp>
        <p:nvSpPr>
          <p:cNvPr id="25" name="Shape 23"/>
          <p:cNvSpPr/>
          <p:nvPr/>
        </p:nvSpPr>
        <p:spPr>
          <a:xfrm>
            <a:off x="320040" y="4572000"/>
            <a:ext cx="8503920" cy="347472"/>
          </a:xfrm>
          <a:prstGeom prst="rect">
            <a:avLst>
              <a:gd name="adj" fmla="val 15789"/>
            </a:avLst>
          </a:prstGeom>
          <a:solidFill>
            <a:srgbClr val="EBF5F0"/>
          </a:solidFill>
          <a:ln w="6350">
            <a:solidFill>
              <a:srgbClr val="E2EBF3"/>
            </a:solidFill>
            <a:prstDash val="solid"/>
          </a:ln>
          <a:effectLst>
            <a:outerShdw sx="100000" sy="100000" kx="0" ky="0" algn="bl" rotWithShape="0" blurRad="127000" dist="38100" dir="2700000">
              <a:srgbClr val="000000">
                <a:alpha val="10000"/>
              </a:srgbClr>
            </a:outerShdw>
          </a:effectLst>
        </p:spPr>
      </p:sp>
      <p:sp>
        <p:nvSpPr>
          <p:cNvPr id="26" name="Text 24"/>
          <p:cNvSpPr/>
          <p:nvPr/>
        </p:nvSpPr>
        <p:spPr>
          <a:xfrm>
            <a:off x="411480" y="4590288"/>
            <a:ext cx="8321040" cy="310896"/>
          </a:xfrm>
          <a:prstGeom prst="rect">
            <a:avLst/>
          </a:prstGeom>
          <a:noFill/>
          <a:ln/>
        </p:spPr>
        <p:txBody>
          <a:bodyPr wrap="square" lIns="0" tIns="0" rIns="0" bIns="0" rtlCol="0" anchor="ctr"/>
          <a:lstStyle/>
          <a:p>
            <a:pPr algn="ctr" indent="0" marL="0">
              <a:buNone/>
            </a:pPr>
            <a:r>
              <a:rPr lang="en-US" sz="1000" b="1" dirty="0">
                <a:solidFill>
                  <a:srgbClr val="0D2137"/>
                </a:solidFill>
                <a:latin typeface="Courier New" pitchFamily="34" charset="0"/>
                <a:ea typeface="Courier New" pitchFamily="34" charset="-122"/>
                <a:cs typeface="Courier New" pitchFamily="34" charset="-120"/>
              </a:rPr>
              <a:t>GRS = (1 − SR)×40  +  (1 − AVVR)×25  +  BD×20  +  LM_neg×15         │         LOW &lt; 30   ·   MEDIUM 30–60   ·   HIGH &gt; 60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2137"/>
          </a:solidFill>
          <a:ln/>
        </p:spPr>
      </p:sp>
      <p:sp>
        <p:nvSpPr>
          <p:cNvPr id="3" name="Text 1"/>
          <p:cNvSpPr/>
          <p:nvPr/>
        </p:nvSpPr>
        <p:spPr>
          <a:xfrm>
            <a:off x="365760" y="0"/>
            <a:ext cx="7315200" cy="7772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Finding 1: The LOW Risk Band Is Empty — Across All 15 Reports</a:t>
            </a:r>
            <a:endParaRPr lang="en-US" sz="2200" dirty="0"/>
          </a:p>
        </p:txBody>
      </p:sp>
      <p:sp>
        <p:nvSpPr>
          <p:cNvPr id="4" name="Text 2"/>
          <p:cNvSpPr/>
          <p:nvPr/>
        </p:nvSpPr>
        <p:spPr>
          <a:xfrm>
            <a:off x="274320" y="4892040"/>
            <a:ext cx="8595360" cy="182880"/>
          </a:xfrm>
          <a:prstGeom prst="rect">
            <a:avLst/>
          </a:prstGeom>
          <a:noFill/>
          <a:ln/>
        </p:spPr>
        <p:txBody>
          <a:bodyPr wrap="square" lIns="0" tIns="0" rIns="0" bIns="0" rtlCol="0" anchor="ctr"/>
          <a:lstStyle/>
          <a:p>
            <a:pPr algn="ctr" indent="0" marL="0">
              <a:buNone/>
            </a:pPr>
            <a:r>
              <a:rPr lang="en-US" sz="700" dirty="0">
                <a:solidFill>
                  <a:srgbClr val="7B9BB8"/>
                </a:solidFill>
                <a:latin typeface="Calibri" pitchFamily="34" charset="0"/>
                <a:ea typeface="Calibri" pitchFamily="34" charset="-122"/>
                <a:cs typeface="Calibri" pitchFamily="34" charset="-120"/>
              </a:rPr>
              <a:t>BRSR Greenwashing Risk Screener  |  NLP Analysis, FY2022–25  |  [Your Name], June 2026</a:t>
            </a:r>
            <a:endParaRPr lang="en-US" sz="700" dirty="0"/>
          </a:p>
        </p:txBody>
      </p:sp>
      <p:sp>
        <p:nvSpPr>
          <p:cNvPr id="5" name="Shape 3"/>
          <p:cNvSpPr/>
          <p:nvPr/>
        </p:nvSpPr>
        <p:spPr>
          <a:xfrm>
            <a:off x="320040" y="960120"/>
            <a:ext cx="2651760" cy="1463040"/>
          </a:xfrm>
          <a:prstGeom prst="rect">
            <a:avLst>
              <a:gd name="adj" fmla="val 3750"/>
            </a:avLst>
          </a:prstGeom>
          <a:solidFill>
            <a:srgbClr val="F0FDF9"/>
          </a:solidFill>
          <a:ln w="6350">
            <a:solidFill>
              <a:srgbClr val="E2EBF3"/>
            </a:solidFill>
            <a:prstDash val="solid"/>
          </a:ln>
          <a:effectLst>
            <a:outerShdw sx="100000" sy="100000" kx="0" ky="0" algn="bl" rotWithShape="0" blurRad="127000" dist="38100" dir="2700000">
              <a:srgbClr val="000000">
                <a:alpha val="10000"/>
              </a:srgbClr>
            </a:outerShdw>
          </a:effectLst>
        </p:spPr>
      </p:sp>
      <p:sp>
        <p:nvSpPr>
          <p:cNvPr id="6" name="Text 4"/>
          <p:cNvSpPr/>
          <p:nvPr/>
        </p:nvSpPr>
        <p:spPr>
          <a:xfrm>
            <a:off x="320040" y="1033272"/>
            <a:ext cx="2651760" cy="804672"/>
          </a:xfrm>
          <a:prstGeom prst="rect">
            <a:avLst/>
          </a:prstGeom>
          <a:noFill/>
          <a:ln/>
        </p:spPr>
        <p:txBody>
          <a:bodyPr wrap="square" lIns="0" tIns="0" rIns="0" bIns="0" rtlCol="0" anchor="b"/>
          <a:lstStyle/>
          <a:p>
            <a:pPr algn="ctr" indent="0" marL="0">
              <a:buNone/>
            </a:pPr>
            <a:r>
              <a:rPr lang="en-US" sz="3600" b="1" dirty="0">
                <a:solidFill>
                  <a:srgbClr val="06D6A0"/>
                </a:solidFill>
                <a:latin typeface="Cambria" pitchFamily="34" charset="0"/>
                <a:ea typeface="Cambria" pitchFamily="34" charset="-122"/>
                <a:cs typeface="Cambria" pitchFamily="34" charset="-120"/>
              </a:rPr>
              <a:t>0 / 15</a:t>
            </a:r>
            <a:endParaRPr lang="en-US" sz="3600" dirty="0"/>
          </a:p>
        </p:txBody>
      </p:sp>
      <p:sp>
        <p:nvSpPr>
          <p:cNvPr id="7" name="Text 5"/>
          <p:cNvSpPr/>
          <p:nvPr/>
        </p:nvSpPr>
        <p:spPr>
          <a:xfrm>
            <a:off x="320040" y="1720901"/>
            <a:ext cx="2651760" cy="614477"/>
          </a:xfrm>
          <a:prstGeom prst="rect">
            <a:avLst/>
          </a:prstGeom>
          <a:noFill/>
          <a:ln/>
        </p:spPr>
        <p:txBody>
          <a:bodyPr wrap="square" lIns="0" tIns="0" rIns="0" bIns="0" rtlCol="0" anchor="t"/>
          <a:lstStyle/>
          <a:p>
            <a:pPr algn="ctr" indent="0" marL="0">
              <a:buNone/>
            </a:pPr>
            <a:r>
              <a:rPr lang="en-US" sz="950" dirty="0">
                <a:solidFill>
                  <a:srgbClr val="2D3F51"/>
                </a:solidFill>
                <a:latin typeface="Calibri" pitchFamily="34" charset="0"/>
                <a:ea typeface="Calibri" pitchFamily="34" charset="-122"/>
                <a:cs typeface="Calibri" pitchFamily="34" charset="-120"/>
              </a:rPr>
              <a:t>Companies scored</a:t>
            </a:r>
            <a:endParaRPr lang="en-US" sz="950" dirty="0"/>
          </a:p>
          <a:p>
            <a:pPr algn="ctr" indent="0" marL="0">
              <a:buNone/>
            </a:pPr>
            <a:r>
              <a:rPr lang="en-US" sz="950" dirty="0">
                <a:solidFill>
                  <a:srgbClr val="2D3F51"/>
                </a:solidFill>
                <a:latin typeface="Calibri" pitchFamily="34" charset="0"/>
                <a:ea typeface="Calibri" pitchFamily="34" charset="-122"/>
                <a:cs typeface="Calibri" pitchFamily="34" charset="-120"/>
              </a:rPr>
              <a:t>LOW (GRS &lt; 30)</a:t>
            </a:r>
            <a:endParaRPr lang="en-US" sz="950" dirty="0"/>
          </a:p>
        </p:txBody>
      </p:sp>
      <p:sp>
        <p:nvSpPr>
          <p:cNvPr id="8" name="Shape 6"/>
          <p:cNvSpPr/>
          <p:nvPr/>
        </p:nvSpPr>
        <p:spPr>
          <a:xfrm>
            <a:off x="3246120" y="960120"/>
            <a:ext cx="2651760" cy="1463040"/>
          </a:xfrm>
          <a:prstGeom prst="rect">
            <a:avLst>
              <a:gd name="adj" fmla="val 3750"/>
            </a:avLst>
          </a:prstGeom>
          <a:solidFill>
            <a:srgbClr val="FFF5F5"/>
          </a:solidFill>
          <a:ln w="6350">
            <a:solidFill>
              <a:srgbClr val="E2EBF3"/>
            </a:solidFill>
            <a:prstDash val="solid"/>
          </a:ln>
          <a:effectLst>
            <a:outerShdw sx="100000" sy="100000" kx="0" ky="0" algn="bl" rotWithShape="0" blurRad="127000" dist="38100" dir="2700000">
              <a:srgbClr val="000000">
                <a:alpha val="10000"/>
              </a:srgbClr>
            </a:outerShdw>
          </a:effectLst>
        </p:spPr>
      </p:sp>
      <p:sp>
        <p:nvSpPr>
          <p:cNvPr id="9" name="Text 7"/>
          <p:cNvSpPr/>
          <p:nvPr/>
        </p:nvSpPr>
        <p:spPr>
          <a:xfrm>
            <a:off x="3246120" y="1033272"/>
            <a:ext cx="2651760" cy="804672"/>
          </a:xfrm>
          <a:prstGeom prst="rect">
            <a:avLst/>
          </a:prstGeom>
          <a:noFill/>
          <a:ln/>
        </p:spPr>
        <p:txBody>
          <a:bodyPr wrap="square" lIns="0" tIns="0" rIns="0" bIns="0" rtlCol="0" anchor="b"/>
          <a:lstStyle/>
          <a:p>
            <a:pPr algn="ctr" indent="0" marL="0">
              <a:buNone/>
            </a:pPr>
            <a:r>
              <a:rPr lang="en-US" sz="3600" b="1" dirty="0">
                <a:solidFill>
                  <a:srgbClr val="E5534B"/>
                </a:solidFill>
                <a:latin typeface="Cambria" pitchFamily="34" charset="0"/>
                <a:ea typeface="Cambria" pitchFamily="34" charset="-122"/>
                <a:cs typeface="Cambria" pitchFamily="34" charset="-120"/>
              </a:rPr>
              <a:t>6 / 15</a:t>
            </a:r>
            <a:endParaRPr lang="en-US" sz="3600" dirty="0"/>
          </a:p>
        </p:txBody>
      </p:sp>
      <p:sp>
        <p:nvSpPr>
          <p:cNvPr id="10" name="Text 8"/>
          <p:cNvSpPr/>
          <p:nvPr/>
        </p:nvSpPr>
        <p:spPr>
          <a:xfrm>
            <a:off x="3246120" y="1720901"/>
            <a:ext cx="2651760" cy="614477"/>
          </a:xfrm>
          <a:prstGeom prst="rect">
            <a:avLst/>
          </a:prstGeom>
          <a:noFill/>
          <a:ln/>
        </p:spPr>
        <p:txBody>
          <a:bodyPr wrap="square" lIns="0" tIns="0" rIns="0" bIns="0" rtlCol="0" anchor="t"/>
          <a:lstStyle/>
          <a:p>
            <a:pPr algn="ctr" indent="0" marL="0">
              <a:buNone/>
            </a:pPr>
            <a:r>
              <a:rPr lang="en-US" sz="950" dirty="0">
                <a:solidFill>
                  <a:srgbClr val="2D3F51"/>
                </a:solidFill>
                <a:latin typeface="Calibri" pitchFamily="34" charset="0"/>
                <a:ea typeface="Calibri" pitchFamily="34" charset="-122"/>
                <a:cs typeface="Calibri" pitchFamily="34" charset="-120"/>
              </a:rPr>
              <a:t>Companies scored</a:t>
            </a:r>
            <a:endParaRPr lang="en-US" sz="950" dirty="0"/>
          </a:p>
          <a:p>
            <a:pPr algn="ctr" indent="0" marL="0">
              <a:buNone/>
            </a:pPr>
            <a:r>
              <a:rPr lang="en-US" sz="950" dirty="0">
                <a:solidFill>
                  <a:srgbClr val="2D3F51"/>
                </a:solidFill>
                <a:latin typeface="Calibri" pitchFamily="34" charset="0"/>
                <a:ea typeface="Calibri" pitchFamily="34" charset="-122"/>
                <a:cs typeface="Calibri" pitchFamily="34" charset="-120"/>
              </a:rPr>
              <a:t>HIGH (GRS &gt; 60)</a:t>
            </a:r>
            <a:endParaRPr lang="en-US" sz="950" dirty="0"/>
          </a:p>
        </p:txBody>
      </p:sp>
      <p:sp>
        <p:nvSpPr>
          <p:cNvPr id="11" name="Shape 9"/>
          <p:cNvSpPr/>
          <p:nvPr/>
        </p:nvSpPr>
        <p:spPr>
          <a:xfrm>
            <a:off x="6172200" y="960120"/>
            <a:ext cx="2651760" cy="1463040"/>
          </a:xfrm>
          <a:prstGeom prst="rect">
            <a:avLst>
              <a:gd name="adj" fmla="val 3750"/>
            </a:avLst>
          </a:prstGeom>
          <a:solidFill>
            <a:srgbClr val="FFFBF0"/>
          </a:solidFill>
          <a:ln w="6350">
            <a:solidFill>
              <a:srgbClr val="E2EBF3"/>
            </a:solidFill>
            <a:prstDash val="solid"/>
          </a:ln>
          <a:effectLst>
            <a:outerShdw sx="100000" sy="100000" kx="0" ky="0" algn="bl" rotWithShape="0" blurRad="127000" dist="38100" dir="2700000">
              <a:srgbClr val="000000">
                <a:alpha val="10000"/>
              </a:srgbClr>
            </a:outerShdw>
          </a:effectLst>
        </p:spPr>
      </p:sp>
      <p:sp>
        <p:nvSpPr>
          <p:cNvPr id="12" name="Text 10"/>
          <p:cNvSpPr/>
          <p:nvPr/>
        </p:nvSpPr>
        <p:spPr>
          <a:xfrm>
            <a:off x="6172200" y="1033272"/>
            <a:ext cx="2651760" cy="804672"/>
          </a:xfrm>
          <a:prstGeom prst="rect">
            <a:avLst/>
          </a:prstGeom>
          <a:noFill/>
          <a:ln/>
        </p:spPr>
        <p:txBody>
          <a:bodyPr wrap="square" lIns="0" tIns="0" rIns="0" bIns="0" rtlCol="0" anchor="b"/>
          <a:lstStyle/>
          <a:p>
            <a:pPr algn="ctr" indent="0" marL="0">
              <a:buNone/>
            </a:pPr>
            <a:r>
              <a:rPr lang="en-US" sz="3600" b="1" dirty="0">
                <a:solidFill>
                  <a:srgbClr val="F0A500"/>
                </a:solidFill>
                <a:latin typeface="Cambria" pitchFamily="34" charset="0"/>
                <a:ea typeface="Cambria" pitchFamily="34" charset="-122"/>
                <a:cs typeface="Cambria" pitchFamily="34" charset="-120"/>
              </a:rPr>
              <a:t>57.3</a:t>
            </a:r>
            <a:endParaRPr lang="en-US" sz="3600" dirty="0"/>
          </a:p>
        </p:txBody>
      </p:sp>
      <p:sp>
        <p:nvSpPr>
          <p:cNvPr id="13" name="Text 11"/>
          <p:cNvSpPr/>
          <p:nvPr/>
        </p:nvSpPr>
        <p:spPr>
          <a:xfrm>
            <a:off x="6172200" y="1720901"/>
            <a:ext cx="2651760" cy="614477"/>
          </a:xfrm>
          <a:prstGeom prst="rect">
            <a:avLst/>
          </a:prstGeom>
          <a:noFill/>
          <a:ln/>
        </p:spPr>
        <p:txBody>
          <a:bodyPr wrap="square" lIns="0" tIns="0" rIns="0" bIns="0" rtlCol="0" anchor="t"/>
          <a:lstStyle/>
          <a:p>
            <a:pPr algn="ctr" indent="0" marL="0">
              <a:buNone/>
            </a:pPr>
            <a:r>
              <a:rPr lang="en-US" sz="950" dirty="0">
                <a:solidFill>
                  <a:srgbClr val="2D3F51"/>
                </a:solidFill>
                <a:latin typeface="Calibri" pitchFamily="34" charset="0"/>
                <a:ea typeface="Calibri" pitchFamily="34" charset="-122"/>
                <a:cs typeface="Calibri" pitchFamily="34" charset="-120"/>
              </a:rPr>
              <a:t>Corpus mean GRS</a:t>
            </a:r>
            <a:endParaRPr lang="en-US" sz="950" dirty="0"/>
          </a:p>
          <a:p>
            <a:pPr algn="ctr" indent="0" marL="0">
              <a:buNone/>
            </a:pPr>
            <a:r>
              <a:rPr lang="en-US" sz="950" dirty="0">
                <a:solidFill>
                  <a:srgbClr val="2D3F51"/>
                </a:solidFill>
                <a:latin typeface="Calibri" pitchFamily="34" charset="0"/>
                <a:ea typeface="Calibri" pitchFamily="34" charset="-122"/>
                <a:cs typeface="Calibri" pitchFamily="34" charset="-120"/>
              </a:rPr>
              <a:t>(0–100 scale)</a:t>
            </a:r>
            <a:endParaRPr lang="en-US" sz="950" dirty="0"/>
          </a:p>
        </p:txBody>
      </p:sp>
      <p:sp>
        <p:nvSpPr>
          <p:cNvPr id="14" name="Text 12"/>
          <p:cNvSpPr/>
          <p:nvPr/>
        </p:nvSpPr>
        <p:spPr>
          <a:xfrm>
            <a:off x="320040" y="2578608"/>
            <a:ext cx="8503920" cy="274320"/>
          </a:xfrm>
          <a:prstGeom prst="rect">
            <a:avLst/>
          </a:prstGeom>
          <a:noFill/>
          <a:ln/>
        </p:spPr>
        <p:txBody>
          <a:bodyPr wrap="square" lIns="0" tIns="0" rIns="0" bIns="0" rtlCol="0" anchor="ctr"/>
          <a:lstStyle/>
          <a:p>
            <a:pPr indent="0" marL="0">
              <a:buNone/>
            </a:pPr>
            <a:r>
              <a:rPr lang="en-US" sz="1200" b="1" dirty="0">
                <a:solidFill>
                  <a:srgbClr val="2D3F51"/>
                </a:solidFill>
                <a:latin typeface="Cambria" pitchFamily="34" charset="0"/>
                <a:ea typeface="Cambria" pitchFamily="34" charset="-122"/>
                <a:cs typeface="Cambria" pitchFamily="34" charset="-120"/>
              </a:rPr>
              <a:t>The risk tier distribution:</a:t>
            </a:r>
            <a:endParaRPr lang="en-US" sz="1200" dirty="0"/>
          </a:p>
        </p:txBody>
      </p:sp>
      <p:sp>
        <p:nvSpPr>
          <p:cNvPr id="15" name="Text 13"/>
          <p:cNvSpPr/>
          <p:nvPr/>
        </p:nvSpPr>
        <p:spPr>
          <a:xfrm>
            <a:off x="320040" y="2944368"/>
            <a:ext cx="2377440" cy="411480"/>
          </a:xfrm>
          <a:prstGeom prst="rect">
            <a:avLst/>
          </a:prstGeom>
          <a:noFill/>
          <a:ln/>
        </p:spPr>
        <p:txBody>
          <a:bodyPr wrap="square" lIns="0" tIns="0" rIns="0" bIns="0" rtlCol="0" anchor="ctr"/>
          <a:lstStyle/>
          <a:p>
            <a:pPr indent="0" marL="0">
              <a:buNone/>
            </a:pPr>
            <a:r>
              <a:rPr lang="en-US" sz="1100" dirty="0">
                <a:solidFill>
                  <a:srgbClr val="2D3F51"/>
                </a:solidFill>
                <a:latin typeface="Calibri" pitchFamily="34" charset="0"/>
                <a:ea typeface="Calibri" pitchFamily="34" charset="-122"/>
                <a:cs typeface="Calibri" pitchFamily="34" charset="-120"/>
              </a:rPr>
              <a:t>HIGH  (GRS &gt; 60)</a:t>
            </a:r>
            <a:endParaRPr lang="en-US" sz="1100" dirty="0"/>
          </a:p>
        </p:txBody>
      </p:sp>
      <p:sp>
        <p:nvSpPr>
          <p:cNvPr id="16" name="Shape 14"/>
          <p:cNvSpPr/>
          <p:nvPr/>
        </p:nvSpPr>
        <p:spPr>
          <a:xfrm>
            <a:off x="2834640" y="2999232"/>
            <a:ext cx="2121408" cy="292608"/>
          </a:xfrm>
          <a:prstGeom prst="rect">
            <a:avLst>
              <a:gd name="adj" fmla="val 12500"/>
            </a:avLst>
          </a:prstGeom>
          <a:solidFill>
            <a:srgbClr val="E5534B">
              <a:alpha val="80000"/>
            </a:srgbClr>
          </a:solidFill>
          <a:ln/>
        </p:spPr>
      </p:sp>
      <p:sp>
        <p:nvSpPr>
          <p:cNvPr id="17" name="Text 15"/>
          <p:cNvSpPr/>
          <p:nvPr/>
        </p:nvSpPr>
        <p:spPr>
          <a:xfrm>
            <a:off x="5065776" y="2944368"/>
            <a:ext cx="1828800" cy="411480"/>
          </a:xfrm>
          <a:prstGeom prst="rect">
            <a:avLst/>
          </a:prstGeom>
          <a:noFill/>
          <a:ln/>
        </p:spPr>
        <p:txBody>
          <a:bodyPr wrap="square" lIns="0" tIns="0" rIns="0" bIns="0" rtlCol="0" anchor="ctr"/>
          <a:lstStyle/>
          <a:p>
            <a:pPr indent="0" marL="0">
              <a:buNone/>
            </a:pPr>
            <a:r>
              <a:rPr lang="en-US" sz="1100" dirty="0">
                <a:solidFill>
                  <a:srgbClr val="7B9BB8"/>
                </a:solidFill>
                <a:latin typeface="Calibri" pitchFamily="34" charset="0"/>
                <a:ea typeface="Calibri" pitchFamily="34" charset="-122"/>
                <a:cs typeface="Calibri" pitchFamily="34" charset="-120"/>
              </a:rPr>
              <a:t>n=6  (40%)</a:t>
            </a:r>
            <a:endParaRPr lang="en-US" sz="1100" dirty="0"/>
          </a:p>
        </p:txBody>
      </p:sp>
      <p:sp>
        <p:nvSpPr>
          <p:cNvPr id="18" name="Text 16"/>
          <p:cNvSpPr/>
          <p:nvPr/>
        </p:nvSpPr>
        <p:spPr>
          <a:xfrm>
            <a:off x="320040" y="3474720"/>
            <a:ext cx="2377440" cy="411480"/>
          </a:xfrm>
          <a:prstGeom prst="rect">
            <a:avLst/>
          </a:prstGeom>
          <a:noFill/>
          <a:ln/>
        </p:spPr>
        <p:txBody>
          <a:bodyPr wrap="square" lIns="0" tIns="0" rIns="0" bIns="0" rtlCol="0" anchor="ctr"/>
          <a:lstStyle/>
          <a:p>
            <a:pPr indent="0" marL="0">
              <a:buNone/>
            </a:pPr>
            <a:r>
              <a:rPr lang="en-US" sz="1100" dirty="0">
                <a:solidFill>
                  <a:srgbClr val="2D3F51"/>
                </a:solidFill>
                <a:latin typeface="Calibri" pitchFamily="34" charset="0"/>
                <a:ea typeface="Calibri" pitchFamily="34" charset="-122"/>
                <a:cs typeface="Calibri" pitchFamily="34" charset="-120"/>
              </a:rPr>
              <a:t>MEDIUM (30–60)</a:t>
            </a:r>
            <a:endParaRPr lang="en-US" sz="1100" dirty="0"/>
          </a:p>
        </p:txBody>
      </p:sp>
      <p:sp>
        <p:nvSpPr>
          <p:cNvPr id="19" name="Shape 17"/>
          <p:cNvSpPr/>
          <p:nvPr/>
        </p:nvSpPr>
        <p:spPr>
          <a:xfrm>
            <a:off x="2834640" y="3529584"/>
            <a:ext cx="3182112" cy="292608"/>
          </a:xfrm>
          <a:prstGeom prst="rect">
            <a:avLst>
              <a:gd name="adj" fmla="val 12500"/>
            </a:avLst>
          </a:prstGeom>
          <a:solidFill>
            <a:srgbClr val="F0A500">
              <a:alpha val="80000"/>
            </a:srgbClr>
          </a:solidFill>
          <a:ln/>
        </p:spPr>
      </p:sp>
      <p:sp>
        <p:nvSpPr>
          <p:cNvPr id="20" name="Text 18"/>
          <p:cNvSpPr/>
          <p:nvPr/>
        </p:nvSpPr>
        <p:spPr>
          <a:xfrm>
            <a:off x="6126480" y="3474720"/>
            <a:ext cx="1828800" cy="411480"/>
          </a:xfrm>
          <a:prstGeom prst="rect">
            <a:avLst/>
          </a:prstGeom>
          <a:noFill/>
          <a:ln/>
        </p:spPr>
        <p:txBody>
          <a:bodyPr wrap="square" lIns="0" tIns="0" rIns="0" bIns="0" rtlCol="0" anchor="ctr"/>
          <a:lstStyle/>
          <a:p>
            <a:pPr indent="0" marL="0">
              <a:buNone/>
            </a:pPr>
            <a:r>
              <a:rPr lang="en-US" sz="1100" dirty="0">
                <a:solidFill>
                  <a:srgbClr val="7B9BB8"/>
                </a:solidFill>
                <a:latin typeface="Calibri" pitchFamily="34" charset="0"/>
                <a:ea typeface="Calibri" pitchFamily="34" charset="-122"/>
                <a:cs typeface="Calibri" pitchFamily="34" charset="-120"/>
              </a:rPr>
              <a:t>n=9  (60%)</a:t>
            </a:r>
            <a:endParaRPr lang="en-US" sz="1100" dirty="0"/>
          </a:p>
        </p:txBody>
      </p:sp>
      <p:sp>
        <p:nvSpPr>
          <p:cNvPr id="21" name="Text 19"/>
          <p:cNvSpPr/>
          <p:nvPr/>
        </p:nvSpPr>
        <p:spPr>
          <a:xfrm>
            <a:off x="320040" y="4005072"/>
            <a:ext cx="2377440" cy="411480"/>
          </a:xfrm>
          <a:prstGeom prst="rect">
            <a:avLst/>
          </a:prstGeom>
          <a:noFill/>
          <a:ln/>
        </p:spPr>
        <p:txBody>
          <a:bodyPr wrap="square" lIns="0" tIns="0" rIns="0" bIns="0" rtlCol="0" anchor="ctr"/>
          <a:lstStyle/>
          <a:p>
            <a:pPr indent="0" marL="0">
              <a:buNone/>
            </a:pPr>
            <a:r>
              <a:rPr lang="en-US" sz="1100" dirty="0">
                <a:solidFill>
                  <a:srgbClr val="2D3F51"/>
                </a:solidFill>
                <a:latin typeface="Calibri" pitchFamily="34" charset="0"/>
                <a:ea typeface="Calibri" pitchFamily="34" charset="-122"/>
                <a:cs typeface="Calibri" pitchFamily="34" charset="-120"/>
              </a:rPr>
              <a:t>LOW    (&lt; 30)</a:t>
            </a:r>
            <a:endParaRPr lang="en-US" sz="1100" dirty="0"/>
          </a:p>
        </p:txBody>
      </p:sp>
      <p:sp>
        <p:nvSpPr>
          <p:cNvPr id="22" name="Shape 20"/>
          <p:cNvSpPr/>
          <p:nvPr/>
        </p:nvSpPr>
        <p:spPr>
          <a:xfrm>
            <a:off x="2834640" y="4059936"/>
            <a:ext cx="45720" cy="292608"/>
          </a:xfrm>
          <a:prstGeom prst="rect">
            <a:avLst>
              <a:gd name="adj" fmla="val 80000"/>
            </a:avLst>
          </a:prstGeom>
          <a:solidFill>
            <a:srgbClr val="06D6A0">
              <a:alpha val="80000"/>
            </a:srgbClr>
          </a:solidFill>
          <a:ln/>
        </p:spPr>
      </p:sp>
      <p:sp>
        <p:nvSpPr>
          <p:cNvPr id="23" name="Text 21"/>
          <p:cNvSpPr/>
          <p:nvPr/>
        </p:nvSpPr>
        <p:spPr>
          <a:xfrm>
            <a:off x="2990088" y="4005072"/>
            <a:ext cx="1828800" cy="411480"/>
          </a:xfrm>
          <a:prstGeom prst="rect">
            <a:avLst/>
          </a:prstGeom>
          <a:noFill/>
          <a:ln/>
        </p:spPr>
        <p:txBody>
          <a:bodyPr wrap="square" lIns="0" tIns="0" rIns="0" bIns="0" rtlCol="0" anchor="ctr"/>
          <a:lstStyle/>
          <a:p>
            <a:pPr indent="0" marL="0">
              <a:buNone/>
            </a:pPr>
            <a:r>
              <a:rPr lang="en-US" sz="1100" dirty="0">
                <a:solidFill>
                  <a:srgbClr val="7B9BB8"/>
                </a:solidFill>
                <a:latin typeface="Calibri" pitchFamily="34" charset="0"/>
                <a:ea typeface="Calibri" pitchFamily="34" charset="-122"/>
                <a:cs typeface="Calibri" pitchFamily="34" charset="-120"/>
              </a:rPr>
              <a:t>n=0  (0%)</a:t>
            </a:r>
            <a:endParaRPr lang="en-US" sz="1100" dirty="0"/>
          </a:p>
        </p:txBody>
      </p:sp>
      <p:sp>
        <p:nvSpPr>
          <p:cNvPr id="24" name="Text 22"/>
          <p:cNvSpPr/>
          <p:nvPr/>
        </p:nvSpPr>
        <p:spPr>
          <a:xfrm>
            <a:off x="320040" y="4572000"/>
            <a:ext cx="8503920" cy="347472"/>
          </a:xfrm>
          <a:prstGeom prst="rect">
            <a:avLst/>
          </a:prstGeom>
          <a:noFill/>
          <a:ln/>
        </p:spPr>
        <p:txBody>
          <a:bodyPr wrap="square" lIns="0" tIns="0" rIns="0" bIns="0" rtlCol="0" anchor="ctr"/>
          <a:lstStyle/>
          <a:p>
            <a:pPr indent="0" marL="0">
              <a:buNone/>
            </a:pPr>
            <a:r>
              <a:rPr lang="en-US" sz="900" i="1" dirty="0">
                <a:solidFill>
                  <a:srgbClr val="7B9BB8"/>
                </a:solidFill>
                <a:latin typeface="Calibri" pitchFamily="34" charset="0"/>
                <a:ea typeface="Calibri" pitchFamily="34" charset="-122"/>
                <a:cs typeface="Calibri" pitchFamily="34" charset="-120"/>
              </a:rPr>
              <a:t>Interpretation: Not a single company in the corpus produced language that was specific enough to clear the LOW risk threshold. This is consistent with Bingler et al. (2022), who found 'cheap talk' dominated even among large, globally visible firms.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2137"/>
          </a:solidFill>
          <a:ln/>
        </p:spPr>
      </p:sp>
      <p:sp>
        <p:nvSpPr>
          <p:cNvPr id="3" name="Text 1"/>
          <p:cNvSpPr/>
          <p:nvPr/>
        </p:nvSpPr>
        <p:spPr>
          <a:xfrm>
            <a:off x="365760" y="0"/>
            <a:ext cx="7315200" cy="7772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Greenwashing Risk Score (GRS) — All 15 Companies, Ranked</a:t>
            </a:r>
            <a:endParaRPr lang="en-US" sz="2200" dirty="0"/>
          </a:p>
        </p:txBody>
      </p:sp>
      <p:sp>
        <p:nvSpPr>
          <p:cNvPr id="4" name="Text 2"/>
          <p:cNvSpPr/>
          <p:nvPr/>
        </p:nvSpPr>
        <p:spPr>
          <a:xfrm>
            <a:off x="274320" y="4892040"/>
            <a:ext cx="8595360" cy="182880"/>
          </a:xfrm>
          <a:prstGeom prst="rect">
            <a:avLst/>
          </a:prstGeom>
          <a:noFill/>
          <a:ln/>
        </p:spPr>
        <p:txBody>
          <a:bodyPr wrap="square" lIns="0" tIns="0" rIns="0" bIns="0" rtlCol="0" anchor="ctr"/>
          <a:lstStyle/>
          <a:p>
            <a:pPr algn="ctr" indent="0" marL="0">
              <a:buNone/>
            </a:pPr>
            <a:r>
              <a:rPr lang="en-US" sz="700" dirty="0">
                <a:solidFill>
                  <a:srgbClr val="7B9BB8"/>
                </a:solidFill>
                <a:latin typeface="Calibri" pitchFamily="34" charset="0"/>
                <a:ea typeface="Calibri" pitchFamily="34" charset="-122"/>
                <a:cs typeface="Calibri" pitchFamily="34" charset="-120"/>
              </a:rPr>
              <a:t>BRSR Greenwashing Risk Screener  |  NLP Analysis, FY2022–25  |  [Your Name], June 2026</a:t>
            </a:r>
            <a:endParaRPr lang="en-US" sz="700" dirty="0"/>
          </a:p>
        </p:txBody>
      </p:sp>
      <p:graphicFrame>
        <p:nvGraphicFramePr>
          <p:cNvPr id="5" name="Chart 0" descr=""/>
          <p:cNvGraphicFramePr/>
          <p:nvPr/>
        </p:nvGraphicFramePr>
        <p:xfrm>
          <a:off x="320040" y="822960"/>
          <a:ext cx="8503920" cy="38862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3447288" y="850392"/>
            <a:ext cx="0" cy="3822192"/>
          </a:xfrm>
          <a:prstGeom prst="line">
            <a:avLst/>
          </a:prstGeom>
          <a:noFill/>
          <a:ln w="15240">
            <a:solidFill>
              <a:srgbClr val="06D6A0"/>
            </a:solidFill>
            <a:prstDash val="dash"/>
          </a:ln>
        </p:spPr>
      </p:sp>
      <p:sp>
        <p:nvSpPr>
          <p:cNvPr id="7" name="Shape 4"/>
          <p:cNvSpPr/>
          <p:nvPr/>
        </p:nvSpPr>
        <p:spPr>
          <a:xfrm>
            <a:off x="5751576" y="850392"/>
            <a:ext cx="0" cy="3822192"/>
          </a:xfrm>
          <a:prstGeom prst="line">
            <a:avLst/>
          </a:prstGeom>
          <a:noFill/>
          <a:ln w="15240">
            <a:solidFill>
              <a:srgbClr val="E5534B"/>
            </a:solidFill>
            <a:prstDash val="dash"/>
          </a:ln>
        </p:spPr>
      </p:sp>
      <p:sp>
        <p:nvSpPr>
          <p:cNvPr id="8" name="Text 5"/>
          <p:cNvSpPr/>
          <p:nvPr/>
        </p:nvSpPr>
        <p:spPr>
          <a:xfrm>
            <a:off x="2898648" y="4507992"/>
            <a:ext cx="1097280" cy="274320"/>
          </a:xfrm>
          <a:prstGeom prst="rect">
            <a:avLst/>
          </a:prstGeom>
          <a:noFill/>
          <a:ln/>
        </p:spPr>
        <p:txBody>
          <a:bodyPr wrap="square" lIns="0" tIns="0" rIns="0" bIns="0" rtlCol="0" anchor="ctr"/>
          <a:lstStyle/>
          <a:p>
            <a:pPr algn="ctr" indent="0" marL="0">
              <a:buNone/>
            </a:pPr>
            <a:r>
              <a:rPr lang="en-US" sz="700" dirty="0">
                <a:solidFill>
                  <a:srgbClr val="06D6A0"/>
                </a:solidFill>
                <a:latin typeface="Calibri" pitchFamily="34" charset="0"/>
                <a:ea typeface="Calibri" pitchFamily="34" charset="-122"/>
                <a:cs typeface="Calibri" pitchFamily="34" charset="-120"/>
              </a:rPr>
              <a:t>LOW threshold</a:t>
            </a:r>
            <a:endParaRPr lang="en-US" sz="700" dirty="0"/>
          </a:p>
          <a:p>
            <a:pPr algn="ctr" indent="0" marL="0">
              <a:buNone/>
            </a:pPr>
            <a:r>
              <a:rPr lang="en-US" sz="700" dirty="0">
                <a:solidFill>
                  <a:srgbClr val="06D6A0"/>
                </a:solidFill>
                <a:latin typeface="Calibri" pitchFamily="34" charset="0"/>
                <a:ea typeface="Calibri" pitchFamily="34" charset="-122"/>
                <a:cs typeface="Calibri" pitchFamily="34" charset="-120"/>
              </a:rPr>
              <a:t>(GRS = 30)</a:t>
            </a:r>
            <a:endParaRPr lang="en-US" sz="700" dirty="0"/>
          </a:p>
        </p:txBody>
      </p:sp>
      <p:sp>
        <p:nvSpPr>
          <p:cNvPr id="9" name="Text 6"/>
          <p:cNvSpPr/>
          <p:nvPr/>
        </p:nvSpPr>
        <p:spPr>
          <a:xfrm>
            <a:off x="5202936" y="4507992"/>
            <a:ext cx="1097280" cy="274320"/>
          </a:xfrm>
          <a:prstGeom prst="rect">
            <a:avLst/>
          </a:prstGeom>
          <a:noFill/>
          <a:ln/>
        </p:spPr>
        <p:txBody>
          <a:bodyPr wrap="square" lIns="0" tIns="0" rIns="0" bIns="0" rtlCol="0" anchor="ctr"/>
          <a:lstStyle/>
          <a:p>
            <a:pPr algn="ctr" indent="0" marL="0">
              <a:buNone/>
            </a:pPr>
            <a:r>
              <a:rPr lang="en-US" sz="700" dirty="0">
                <a:solidFill>
                  <a:srgbClr val="E5534B"/>
                </a:solidFill>
                <a:latin typeface="Calibri" pitchFamily="34" charset="0"/>
                <a:ea typeface="Calibri" pitchFamily="34" charset="-122"/>
                <a:cs typeface="Calibri" pitchFamily="34" charset="-120"/>
              </a:rPr>
              <a:t>HIGH threshold</a:t>
            </a:r>
            <a:endParaRPr lang="en-US" sz="700" dirty="0"/>
          </a:p>
          <a:p>
            <a:pPr algn="ctr" indent="0" marL="0">
              <a:buNone/>
            </a:pPr>
            <a:r>
              <a:rPr lang="en-US" sz="700" dirty="0">
                <a:solidFill>
                  <a:srgbClr val="E5534B"/>
                </a:solidFill>
                <a:latin typeface="Calibri" pitchFamily="34" charset="0"/>
                <a:ea typeface="Calibri" pitchFamily="34" charset="-122"/>
                <a:cs typeface="Calibri" pitchFamily="34" charset="-120"/>
              </a:rPr>
              <a:t>(GRS = 60)</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2137"/>
          </a:solidFill>
          <a:ln/>
        </p:spPr>
      </p:sp>
      <p:sp>
        <p:nvSpPr>
          <p:cNvPr id="3" name="Text 1"/>
          <p:cNvSpPr/>
          <p:nvPr/>
        </p:nvSpPr>
        <p:spPr>
          <a:xfrm>
            <a:off x="365760" y="0"/>
            <a:ext cx="7315200" cy="7772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Finding 2: Manufacturing Sectors Show the Widest Ambition–Specificity Gap</a:t>
            </a:r>
            <a:endParaRPr lang="en-US" sz="2200" dirty="0"/>
          </a:p>
        </p:txBody>
      </p:sp>
      <p:sp>
        <p:nvSpPr>
          <p:cNvPr id="4" name="Text 2"/>
          <p:cNvSpPr/>
          <p:nvPr/>
        </p:nvSpPr>
        <p:spPr>
          <a:xfrm>
            <a:off x="274320" y="4892040"/>
            <a:ext cx="8595360" cy="182880"/>
          </a:xfrm>
          <a:prstGeom prst="rect">
            <a:avLst/>
          </a:prstGeom>
          <a:noFill/>
          <a:ln/>
        </p:spPr>
        <p:txBody>
          <a:bodyPr wrap="square" lIns="0" tIns="0" rIns="0" bIns="0" rtlCol="0" anchor="ctr"/>
          <a:lstStyle/>
          <a:p>
            <a:pPr algn="ctr" indent="0" marL="0">
              <a:buNone/>
            </a:pPr>
            <a:r>
              <a:rPr lang="en-US" sz="700" dirty="0">
                <a:solidFill>
                  <a:srgbClr val="7B9BB8"/>
                </a:solidFill>
                <a:latin typeface="Calibri" pitchFamily="34" charset="0"/>
                <a:ea typeface="Calibri" pitchFamily="34" charset="-122"/>
                <a:cs typeface="Calibri" pitchFamily="34" charset="-120"/>
              </a:rPr>
              <a:t>BRSR Greenwashing Risk Screener  |  NLP Analysis, FY2022–25  |  [Your Name], June 2026</a:t>
            </a:r>
            <a:endParaRPr lang="en-US" sz="700" dirty="0"/>
          </a:p>
        </p:txBody>
      </p:sp>
      <p:graphicFrame>
        <p:nvGraphicFramePr>
          <p:cNvPr id="5" name="Chart 0" descr=""/>
          <p:cNvGraphicFramePr/>
          <p:nvPr/>
        </p:nvGraphicFramePr>
        <p:xfrm>
          <a:off x="320040" y="868680"/>
          <a:ext cx="5120640" cy="34747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669280" y="914400"/>
            <a:ext cx="3108960" cy="320040"/>
          </a:xfrm>
          <a:prstGeom prst="rect">
            <a:avLst/>
          </a:prstGeom>
          <a:noFill/>
          <a:ln/>
        </p:spPr>
        <p:txBody>
          <a:bodyPr wrap="square" lIns="0" tIns="0" rIns="0" bIns="0" rtlCol="0" anchor="ctr"/>
          <a:lstStyle/>
          <a:p>
            <a:pPr indent="0" marL="0">
              <a:buNone/>
            </a:pPr>
            <a:r>
              <a:rPr lang="en-US" sz="1100" b="1" dirty="0">
                <a:solidFill>
                  <a:srgbClr val="2D3F51"/>
                </a:solidFill>
                <a:latin typeface="Cambria" pitchFamily="34" charset="0"/>
                <a:ea typeface="Cambria" pitchFamily="34" charset="-122"/>
                <a:cs typeface="Cambria" pitchFamily="34" charset="-120"/>
              </a:rPr>
              <a:t>Mean Specificity Ratio (SR) by Sector</a:t>
            </a:r>
            <a:endParaRPr lang="en-US" sz="1100" dirty="0"/>
          </a:p>
        </p:txBody>
      </p:sp>
      <p:sp>
        <p:nvSpPr>
          <p:cNvPr id="7" name="Text 4"/>
          <p:cNvSpPr/>
          <p:nvPr/>
        </p:nvSpPr>
        <p:spPr>
          <a:xfrm>
            <a:off x="5669280" y="1280160"/>
            <a:ext cx="1920240" cy="365760"/>
          </a:xfrm>
          <a:prstGeom prst="rect">
            <a:avLst/>
          </a:prstGeom>
          <a:noFill/>
          <a:ln/>
        </p:spPr>
        <p:txBody>
          <a:bodyPr wrap="square" lIns="0" tIns="0" rIns="0" bIns="0" rtlCol="0" anchor="ctr"/>
          <a:lstStyle/>
          <a:p>
            <a:pPr indent="0" marL="0">
              <a:buNone/>
            </a:pPr>
            <a:r>
              <a:rPr lang="en-US" sz="1000" dirty="0">
                <a:solidFill>
                  <a:srgbClr val="2D3F51"/>
                </a:solidFill>
                <a:latin typeface="Calibri" pitchFamily="34" charset="0"/>
                <a:ea typeface="Calibri" pitchFamily="34" charset="-122"/>
                <a:cs typeface="Calibri" pitchFamily="34" charset="-120"/>
              </a:rPr>
              <a:t>Heavy Industry</a:t>
            </a:r>
            <a:endParaRPr lang="en-US" sz="1000" dirty="0"/>
          </a:p>
        </p:txBody>
      </p:sp>
      <p:sp>
        <p:nvSpPr>
          <p:cNvPr id="8" name="Shape 5"/>
          <p:cNvSpPr/>
          <p:nvPr/>
        </p:nvSpPr>
        <p:spPr>
          <a:xfrm>
            <a:off x="7680960" y="1335024"/>
            <a:ext cx="73152" cy="256032"/>
          </a:xfrm>
          <a:prstGeom prst="rect">
            <a:avLst>
              <a:gd name="adj" fmla="val 37500"/>
            </a:avLst>
          </a:prstGeom>
          <a:solidFill>
            <a:srgbClr val="EF4444"/>
          </a:solidFill>
          <a:ln/>
        </p:spPr>
      </p:sp>
      <p:sp>
        <p:nvSpPr>
          <p:cNvPr id="9" name="Text 6"/>
          <p:cNvSpPr/>
          <p:nvPr/>
        </p:nvSpPr>
        <p:spPr>
          <a:xfrm>
            <a:off x="7827264" y="1280160"/>
            <a:ext cx="640080" cy="365760"/>
          </a:xfrm>
          <a:prstGeom prst="rect">
            <a:avLst/>
          </a:prstGeom>
          <a:noFill/>
          <a:ln/>
        </p:spPr>
        <p:txBody>
          <a:bodyPr wrap="square" lIns="0" tIns="0" rIns="0" bIns="0" rtlCol="0" anchor="ctr"/>
          <a:lstStyle/>
          <a:p>
            <a:pPr indent="0" marL="0">
              <a:buNone/>
            </a:pPr>
            <a:r>
              <a:rPr lang="en-US" sz="900" dirty="0">
                <a:solidFill>
                  <a:srgbClr val="7B9BB8"/>
                </a:solidFill>
                <a:latin typeface="Calibri" pitchFamily="34" charset="0"/>
                <a:ea typeface="Calibri" pitchFamily="34" charset="-122"/>
                <a:cs typeface="Calibri" pitchFamily="34" charset="-120"/>
              </a:rPr>
              <a:t>0.000</a:t>
            </a:r>
            <a:endParaRPr lang="en-US" sz="900" dirty="0"/>
          </a:p>
        </p:txBody>
      </p:sp>
      <p:sp>
        <p:nvSpPr>
          <p:cNvPr id="10" name="Text 7"/>
          <p:cNvSpPr/>
          <p:nvPr/>
        </p:nvSpPr>
        <p:spPr>
          <a:xfrm>
            <a:off x="5669280" y="1755648"/>
            <a:ext cx="1920240" cy="365760"/>
          </a:xfrm>
          <a:prstGeom prst="rect">
            <a:avLst/>
          </a:prstGeom>
          <a:noFill/>
          <a:ln/>
        </p:spPr>
        <p:txBody>
          <a:bodyPr wrap="square" lIns="0" tIns="0" rIns="0" bIns="0" rtlCol="0" anchor="ctr"/>
          <a:lstStyle/>
          <a:p>
            <a:pPr indent="0" marL="0">
              <a:buNone/>
            </a:pPr>
            <a:r>
              <a:rPr lang="en-US" sz="1000" dirty="0">
                <a:solidFill>
                  <a:srgbClr val="2D3F51"/>
                </a:solidFill>
                <a:latin typeface="Calibri" pitchFamily="34" charset="0"/>
                <a:ea typeface="Calibri" pitchFamily="34" charset="-122"/>
                <a:cs typeface="Calibri" pitchFamily="34" charset="-120"/>
              </a:rPr>
              <a:t>Cement</a:t>
            </a:r>
            <a:endParaRPr lang="en-US" sz="1000" dirty="0"/>
          </a:p>
        </p:txBody>
      </p:sp>
      <p:sp>
        <p:nvSpPr>
          <p:cNvPr id="11" name="Shape 8"/>
          <p:cNvSpPr/>
          <p:nvPr/>
        </p:nvSpPr>
        <p:spPr>
          <a:xfrm>
            <a:off x="7680960" y="1810512"/>
            <a:ext cx="265176" cy="256032"/>
          </a:xfrm>
          <a:prstGeom prst="rect">
            <a:avLst>
              <a:gd name="adj" fmla="val 10714"/>
            </a:avLst>
          </a:prstGeom>
          <a:solidFill>
            <a:srgbClr val="F59E0B"/>
          </a:solidFill>
          <a:ln/>
        </p:spPr>
      </p:sp>
      <p:sp>
        <p:nvSpPr>
          <p:cNvPr id="12" name="Text 9"/>
          <p:cNvSpPr/>
          <p:nvPr/>
        </p:nvSpPr>
        <p:spPr>
          <a:xfrm>
            <a:off x="8019288" y="1755648"/>
            <a:ext cx="640080" cy="365760"/>
          </a:xfrm>
          <a:prstGeom prst="rect">
            <a:avLst/>
          </a:prstGeom>
          <a:noFill/>
          <a:ln/>
        </p:spPr>
        <p:txBody>
          <a:bodyPr wrap="square" lIns="0" tIns="0" rIns="0" bIns="0" rtlCol="0" anchor="ctr"/>
          <a:lstStyle/>
          <a:p>
            <a:pPr indent="0" marL="0">
              <a:buNone/>
            </a:pPr>
            <a:r>
              <a:rPr lang="en-US" sz="900" dirty="0">
                <a:solidFill>
                  <a:srgbClr val="7B9BB8"/>
                </a:solidFill>
                <a:latin typeface="Calibri" pitchFamily="34" charset="0"/>
                <a:ea typeface="Calibri" pitchFamily="34" charset="-122"/>
                <a:cs typeface="Calibri" pitchFamily="34" charset="-120"/>
              </a:rPr>
              <a:t>0.029</a:t>
            </a:r>
            <a:endParaRPr lang="en-US" sz="900" dirty="0"/>
          </a:p>
        </p:txBody>
      </p:sp>
      <p:sp>
        <p:nvSpPr>
          <p:cNvPr id="13" name="Text 10"/>
          <p:cNvSpPr/>
          <p:nvPr/>
        </p:nvSpPr>
        <p:spPr>
          <a:xfrm>
            <a:off x="5669280" y="2231136"/>
            <a:ext cx="1920240" cy="365760"/>
          </a:xfrm>
          <a:prstGeom prst="rect">
            <a:avLst/>
          </a:prstGeom>
          <a:noFill/>
          <a:ln/>
        </p:spPr>
        <p:txBody>
          <a:bodyPr wrap="square" lIns="0" tIns="0" rIns="0" bIns="0" rtlCol="0" anchor="ctr"/>
          <a:lstStyle/>
          <a:p>
            <a:pPr indent="0" marL="0">
              <a:buNone/>
            </a:pPr>
            <a:r>
              <a:rPr lang="en-US" sz="1000" dirty="0">
                <a:solidFill>
                  <a:srgbClr val="2D3F51"/>
                </a:solidFill>
                <a:latin typeface="Calibri" pitchFamily="34" charset="0"/>
                <a:ea typeface="Calibri" pitchFamily="34" charset="-122"/>
                <a:cs typeface="Calibri" pitchFamily="34" charset="-120"/>
              </a:rPr>
              <a:t>Pharma</a:t>
            </a:r>
            <a:endParaRPr lang="en-US" sz="1000" dirty="0"/>
          </a:p>
        </p:txBody>
      </p:sp>
      <p:sp>
        <p:nvSpPr>
          <p:cNvPr id="14" name="Shape 11"/>
          <p:cNvSpPr/>
          <p:nvPr/>
        </p:nvSpPr>
        <p:spPr>
          <a:xfrm>
            <a:off x="7680960" y="2286000"/>
            <a:ext cx="786384" cy="256032"/>
          </a:xfrm>
          <a:prstGeom prst="rect">
            <a:avLst>
              <a:gd name="adj" fmla="val 10714"/>
            </a:avLst>
          </a:prstGeom>
          <a:solidFill>
            <a:srgbClr val="A855F7"/>
          </a:solidFill>
          <a:ln/>
        </p:spPr>
      </p:sp>
      <p:sp>
        <p:nvSpPr>
          <p:cNvPr id="15" name="Text 12"/>
          <p:cNvSpPr/>
          <p:nvPr/>
        </p:nvSpPr>
        <p:spPr>
          <a:xfrm>
            <a:off x="8540496" y="2231136"/>
            <a:ext cx="640080" cy="365760"/>
          </a:xfrm>
          <a:prstGeom prst="rect">
            <a:avLst/>
          </a:prstGeom>
          <a:noFill/>
          <a:ln/>
        </p:spPr>
        <p:txBody>
          <a:bodyPr wrap="square" lIns="0" tIns="0" rIns="0" bIns="0" rtlCol="0" anchor="ctr"/>
          <a:lstStyle/>
          <a:p>
            <a:pPr indent="0" marL="0">
              <a:buNone/>
            </a:pPr>
            <a:r>
              <a:rPr lang="en-US" sz="900" dirty="0">
                <a:solidFill>
                  <a:srgbClr val="7B9BB8"/>
                </a:solidFill>
                <a:latin typeface="Calibri" pitchFamily="34" charset="0"/>
                <a:ea typeface="Calibri" pitchFamily="34" charset="-122"/>
                <a:cs typeface="Calibri" pitchFamily="34" charset="-120"/>
              </a:rPr>
              <a:t>0.086</a:t>
            </a:r>
            <a:endParaRPr lang="en-US" sz="900" dirty="0"/>
          </a:p>
        </p:txBody>
      </p:sp>
      <p:sp>
        <p:nvSpPr>
          <p:cNvPr id="16" name="Text 13"/>
          <p:cNvSpPr/>
          <p:nvPr/>
        </p:nvSpPr>
        <p:spPr>
          <a:xfrm>
            <a:off x="5669280" y="2706624"/>
            <a:ext cx="1920240" cy="365760"/>
          </a:xfrm>
          <a:prstGeom prst="rect">
            <a:avLst/>
          </a:prstGeom>
          <a:noFill/>
          <a:ln/>
        </p:spPr>
        <p:txBody>
          <a:bodyPr wrap="square" lIns="0" tIns="0" rIns="0" bIns="0" rtlCol="0" anchor="ctr"/>
          <a:lstStyle/>
          <a:p>
            <a:pPr indent="0" marL="0">
              <a:buNone/>
            </a:pPr>
            <a:r>
              <a:rPr lang="en-US" sz="1000" dirty="0">
                <a:solidFill>
                  <a:srgbClr val="2D3F51"/>
                </a:solidFill>
                <a:latin typeface="Calibri" pitchFamily="34" charset="0"/>
                <a:ea typeface="Calibri" pitchFamily="34" charset="-122"/>
                <a:cs typeface="Calibri" pitchFamily="34" charset="-120"/>
              </a:rPr>
              <a:t>IT</a:t>
            </a:r>
            <a:endParaRPr lang="en-US" sz="1000" dirty="0"/>
          </a:p>
        </p:txBody>
      </p:sp>
      <p:sp>
        <p:nvSpPr>
          <p:cNvPr id="17" name="Shape 14"/>
          <p:cNvSpPr/>
          <p:nvPr/>
        </p:nvSpPr>
        <p:spPr>
          <a:xfrm>
            <a:off x="7680960" y="2761488"/>
            <a:ext cx="923544" cy="256032"/>
          </a:xfrm>
          <a:prstGeom prst="rect">
            <a:avLst>
              <a:gd name="adj" fmla="val 10714"/>
            </a:avLst>
          </a:prstGeom>
          <a:solidFill>
            <a:srgbClr val="3B82F6"/>
          </a:solidFill>
          <a:ln/>
        </p:spPr>
      </p:sp>
      <p:sp>
        <p:nvSpPr>
          <p:cNvPr id="18" name="Text 15"/>
          <p:cNvSpPr/>
          <p:nvPr/>
        </p:nvSpPr>
        <p:spPr>
          <a:xfrm>
            <a:off x="8677656" y="2706624"/>
            <a:ext cx="640080" cy="365760"/>
          </a:xfrm>
          <a:prstGeom prst="rect">
            <a:avLst/>
          </a:prstGeom>
          <a:noFill/>
          <a:ln/>
        </p:spPr>
        <p:txBody>
          <a:bodyPr wrap="square" lIns="0" tIns="0" rIns="0" bIns="0" rtlCol="0" anchor="ctr"/>
          <a:lstStyle/>
          <a:p>
            <a:pPr indent="0" marL="0">
              <a:buNone/>
            </a:pPr>
            <a:r>
              <a:rPr lang="en-US" sz="900" dirty="0">
                <a:solidFill>
                  <a:srgbClr val="7B9BB8"/>
                </a:solidFill>
                <a:latin typeface="Calibri" pitchFamily="34" charset="0"/>
                <a:ea typeface="Calibri" pitchFamily="34" charset="-122"/>
                <a:cs typeface="Calibri" pitchFamily="34" charset="-120"/>
              </a:rPr>
              <a:t>0.101</a:t>
            </a:r>
            <a:endParaRPr lang="en-US" sz="900" dirty="0"/>
          </a:p>
        </p:txBody>
      </p:sp>
      <p:sp>
        <p:nvSpPr>
          <p:cNvPr id="19" name="Text 16"/>
          <p:cNvSpPr/>
          <p:nvPr/>
        </p:nvSpPr>
        <p:spPr>
          <a:xfrm>
            <a:off x="5669280" y="3182112"/>
            <a:ext cx="1920240" cy="365760"/>
          </a:xfrm>
          <a:prstGeom prst="rect">
            <a:avLst/>
          </a:prstGeom>
          <a:noFill/>
          <a:ln/>
        </p:spPr>
        <p:txBody>
          <a:bodyPr wrap="square" lIns="0" tIns="0" rIns="0" bIns="0" rtlCol="0" anchor="ctr"/>
          <a:lstStyle/>
          <a:p>
            <a:pPr indent="0" marL="0">
              <a:buNone/>
            </a:pPr>
            <a:r>
              <a:rPr lang="en-US" sz="1000" dirty="0">
                <a:solidFill>
                  <a:srgbClr val="2D3F51"/>
                </a:solidFill>
                <a:latin typeface="Calibri" pitchFamily="34" charset="0"/>
                <a:ea typeface="Calibri" pitchFamily="34" charset="-122"/>
                <a:cs typeface="Calibri" pitchFamily="34" charset="-120"/>
              </a:rPr>
              <a:t>Banking</a:t>
            </a:r>
            <a:endParaRPr lang="en-US" sz="1000" dirty="0"/>
          </a:p>
        </p:txBody>
      </p:sp>
      <p:sp>
        <p:nvSpPr>
          <p:cNvPr id="20" name="Shape 17"/>
          <p:cNvSpPr/>
          <p:nvPr/>
        </p:nvSpPr>
        <p:spPr>
          <a:xfrm>
            <a:off x="7680960" y="3236976"/>
            <a:ext cx="1106424" cy="256032"/>
          </a:xfrm>
          <a:prstGeom prst="rect">
            <a:avLst>
              <a:gd name="adj" fmla="val 10714"/>
            </a:avLst>
          </a:prstGeom>
          <a:solidFill>
            <a:srgbClr val="06D6A0"/>
          </a:solidFill>
          <a:ln/>
        </p:spPr>
      </p:sp>
      <p:sp>
        <p:nvSpPr>
          <p:cNvPr id="21" name="Text 18"/>
          <p:cNvSpPr/>
          <p:nvPr/>
        </p:nvSpPr>
        <p:spPr>
          <a:xfrm>
            <a:off x="8860536" y="3182112"/>
            <a:ext cx="640080" cy="365760"/>
          </a:xfrm>
          <a:prstGeom prst="rect">
            <a:avLst/>
          </a:prstGeom>
          <a:noFill/>
          <a:ln/>
        </p:spPr>
        <p:txBody>
          <a:bodyPr wrap="square" lIns="0" tIns="0" rIns="0" bIns="0" rtlCol="0" anchor="ctr"/>
          <a:lstStyle/>
          <a:p>
            <a:pPr indent="0" marL="0">
              <a:buNone/>
            </a:pPr>
            <a:r>
              <a:rPr lang="en-US" sz="900" dirty="0">
                <a:solidFill>
                  <a:srgbClr val="7B9BB8"/>
                </a:solidFill>
                <a:latin typeface="Calibri" pitchFamily="34" charset="0"/>
                <a:ea typeface="Calibri" pitchFamily="34" charset="-122"/>
                <a:cs typeface="Calibri" pitchFamily="34" charset="-120"/>
              </a:rPr>
              <a:t>0.121</a:t>
            </a:r>
            <a:endParaRPr lang="en-US" sz="900" dirty="0"/>
          </a:p>
        </p:txBody>
      </p:sp>
      <p:sp>
        <p:nvSpPr>
          <p:cNvPr id="22" name="Text 19"/>
          <p:cNvSpPr/>
          <p:nvPr/>
        </p:nvSpPr>
        <p:spPr>
          <a:xfrm>
            <a:off x="5669280" y="3657600"/>
            <a:ext cx="1920240" cy="365760"/>
          </a:xfrm>
          <a:prstGeom prst="rect">
            <a:avLst/>
          </a:prstGeom>
          <a:noFill/>
          <a:ln/>
        </p:spPr>
        <p:txBody>
          <a:bodyPr wrap="square" lIns="0" tIns="0" rIns="0" bIns="0" rtlCol="0" anchor="ctr"/>
          <a:lstStyle/>
          <a:p>
            <a:pPr indent="0" marL="0">
              <a:buNone/>
            </a:pPr>
            <a:r>
              <a:rPr lang="en-US" sz="1000" dirty="0">
                <a:solidFill>
                  <a:srgbClr val="2D3F51"/>
                </a:solidFill>
                <a:latin typeface="Calibri" pitchFamily="34" charset="0"/>
                <a:ea typeface="Calibri" pitchFamily="34" charset="-122"/>
                <a:cs typeface="Calibri" pitchFamily="34" charset="-120"/>
              </a:rPr>
              <a:t>Auto</a:t>
            </a:r>
            <a:endParaRPr lang="en-US" sz="1000" dirty="0"/>
          </a:p>
        </p:txBody>
      </p:sp>
      <p:sp>
        <p:nvSpPr>
          <p:cNvPr id="23" name="Shape 20"/>
          <p:cNvSpPr/>
          <p:nvPr/>
        </p:nvSpPr>
        <p:spPr>
          <a:xfrm>
            <a:off x="7680960" y="3712464"/>
            <a:ext cx="1060704" cy="256032"/>
          </a:xfrm>
          <a:prstGeom prst="rect">
            <a:avLst>
              <a:gd name="adj" fmla="val 10714"/>
            </a:avLst>
          </a:prstGeom>
          <a:solidFill>
            <a:srgbClr val="F97316"/>
          </a:solidFill>
          <a:ln/>
        </p:spPr>
      </p:sp>
      <p:sp>
        <p:nvSpPr>
          <p:cNvPr id="24" name="Text 21"/>
          <p:cNvSpPr/>
          <p:nvPr/>
        </p:nvSpPr>
        <p:spPr>
          <a:xfrm>
            <a:off x="8814816" y="3657600"/>
            <a:ext cx="640080" cy="365760"/>
          </a:xfrm>
          <a:prstGeom prst="rect">
            <a:avLst/>
          </a:prstGeom>
          <a:noFill/>
          <a:ln/>
        </p:spPr>
        <p:txBody>
          <a:bodyPr wrap="square" lIns="0" tIns="0" rIns="0" bIns="0" rtlCol="0" anchor="ctr"/>
          <a:lstStyle/>
          <a:p>
            <a:pPr indent="0" marL="0">
              <a:buNone/>
            </a:pPr>
            <a:r>
              <a:rPr lang="en-US" sz="900" dirty="0">
                <a:solidFill>
                  <a:srgbClr val="7B9BB8"/>
                </a:solidFill>
                <a:latin typeface="Calibri" pitchFamily="34" charset="0"/>
                <a:ea typeface="Calibri" pitchFamily="34" charset="-122"/>
                <a:cs typeface="Calibri" pitchFamily="34" charset="-120"/>
              </a:rPr>
              <a:t>0.116</a:t>
            </a:r>
            <a:endParaRPr lang="en-US" sz="900" dirty="0"/>
          </a:p>
        </p:txBody>
      </p:sp>
      <p:sp>
        <p:nvSpPr>
          <p:cNvPr id="25" name="Text 22"/>
          <p:cNvSpPr/>
          <p:nvPr/>
        </p:nvSpPr>
        <p:spPr>
          <a:xfrm>
            <a:off x="320040" y="4462272"/>
            <a:ext cx="8503920" cy="384048"/>
          </a:xfrm>
          <a:prstGeom prst="rect">
            <a:avLst/>
          </a:prstGeom>
          <a:noFill/>
          <a:ln/>
        </p:spPr>
        <p:txBody>
          <a:bodyPr wrap="square" lIns="0" tIns="0" rIns="0" bIns="0" rtlCol="0" anchor="ctr"/>
          <a:lstStyle/>
          <a:p>
            <a:pPr indent="0" marL="0">
              <a:buNone/>
            </a:pPr>
            <a:r>
              <a:rPr lang="en-US" sz="950" i="1" dirty="0">
                <a:solidFill>
                  <a:srgbClr val="7B9BB8"/>
                </a:solidFill>
                <a:latin typeface="Calibri" pitchFamily="34" charset="0"/>
                <a:ea typeface="Calibri" pitchFamily="34" charset="-122"/>
                <a:cs typeface="Calibri" pitchFamily="34" charset="-120"/>
              </a:rPr>
              <a:t>Key insight: The sectors with the highest absolute GHG emissions (Cement, Steel) also produce the least quantified ESG language. High climate ambition + near-zero specificity = textual credibility risk.</a:t>
            </a:r>
            <a:endParaRPr lang="en-US" sz="950" dirty="0"/>
          </a:p>
        </p:txBody>
      </p:sp>
      <p:sp>
        <p:nvSpPr>
          <p:cNvPr id="26" name="Text 23"/>
          <p:cNvSpPr/>
          <p:nvPr/>
        </p:nvSpPr>
        <p:spPr>
          <a:xfrm>
            <a:off x="320040" y="4864608"/>
            <a:ext cx="8503920" cy="182880"/>
          </a:xfrm>
          <a:prstGeom prst="rect">
            <a:avLst/>
          </a:prstGeom>
          <a:noFill/>
          <a:ln/>
        </p:spPr>
        <p:txBody>
          <a:bodyPr wrap="square" lIns="0" tIns="0" rIns="0" bIns="0" rtlCol="0" anchor="ctr"/>
          <a:lstStyle/>
          <a:p>
            <a:pPr indent="0" marL="0">
              <a:buNone/>
            </a:pPr>
            <a:r>
              <a:rPr lang="en-US" sz="750" dirty="0">
                <a:solidFill>
                  <a:srgbClr val="7B9BB8"/>
                </a:solidFill>
                <a:latin typeface="Calibri" pitchFamily="34" charset="0"/>
                <a:ea typeface="Calibri" pitchFamily="34" charset="-122"/>
                <a:cs typeface="Calibri" pitchFamily="34" charset="-120"/>
              </a:rPr>
              <a:t>Kruskal-Wallis test: H = 7.47, p = 0.188 (non-significant at n=15). Differences are descriptive only.</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2137"/>
          </a:solidFill>
          <a:ln/>
        </p:spPr>
      </p:sp>
      <p:sp>
        <p:nvSpPr>
          <p:cNvPr id="3" name="Text 1"/>
          <p:cNvSpPr/>
          <p:nvPr/>
        </p:nvSpPr>
        <p:spPr>
          <a:xfrm>
            <a:off x="365760" y="0"/>
            <a:ext cx="7315200" cy="7772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Finding 3: Specificity Ratio Is the Dominant Predictor (r = −0.725, p = 0.002)</a:t>
            </a:r>
            <a:endParaRPr lang="en-US" sz="2200" dirty="0"/>
          </a:p>
        </p:txBody>
      </p:sp>
      <p:sp>
        <p:nvSpPr>
          <p:cNvPr id="4" name="Text 2"/>
          <p:cNvSpPr/>
          <p:nvPr/>
        </p:nvSpPr>
        <p:spPr>
          <a:xfrm>
            <a:off x="274320" y="4892040"/>
            <a:ext cx="8595360" cy="182880"/>
          </a:xfrm>
          <a:prstGeom prst="rect">
            <a:avLst/>
          </a:prstGeom>
          <a:noFill/>
          <a:ln/>
        </p:spPr>
        <p:txBody>
          <a:bodyPr wrap="square" lIns="0" tIns="0" rIns="0" bIns="0" rtlCol="0" anchor="ctr"/>
          <a:lstStyle/>
          <a:p>
            <a:pPr algn="ctr" indent="0" marL="0">
              <a:buNone/>
            </a:pPr>
            <a:r>
              <a:rPr lang="en-US" sz="700" dirty="0">
                <a:solidFill>
                  <a:srgbClr val="7B9BB8"/>
                </a:solidFill>
                <a:latin typeface="Calibri" pitchFamily="34" charset="0"/>
                <a:ea typeface="Calibri" pitchFamily="34" charset="-122"/>
                <a:cs typeface="Calibri" pitchFamily="34" charset="-120"/>
              </a:rPr>
              <a:t>BRSR Greenwashing Risk Screener  |  NLP Analysis, FY2022–25  |  [Your Name], June 2026</a:t>
            </a:r>
            <a:endParaRPr lang="en-US" sz="700" dirty="0"/>
          </a:p>
        </p:txBody>
      </p:sp>
      <p:graphicFrame>
        <p:nvGraphicFramePr>
          <p:cNvPr id="5" name="Chart 0" descr=""/>
          <p:cNvGraphicFramePr/>
          <p:nvPr/>
        </p:nvGraphicFramePr>
        <p:xfrm>
          <a:off x="320040" y="868680"/>
          <a:ext cx="5486400" cy="37490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989320" y="960120"/>
            <a:ext cx="2834640" cy="1188720"/>
          </a:xfrm>
          <a:prstGeom prst="rect">
            <a:avLst>
              <a:gd name="adj" fmla="val 4615"/>
            </a:avLst>
          </a:prstGeom>
          <a:solidFill>
            <a:srgbClr val="F0F4F8"/>
          </a:solidFill>
          <a:ln w="6350">
            <a:solidFill>
              <a:srgbClr val="E2EBF3"/>
            </a:solidFill>
            <a:prstDash val="solid"/>
          </a:ln>
          <a:effectLst>
            <a:outerShdw sx="100000" sy="100000" kx="0" ky="0" algn="bl" rotWithShape="0" blurRad="127000" dist="38100" dir="2700000">
              <a:srgbClr val="000000">
                <a:alpha val="10000"/>
              </a:srgbClr>
            </a:outerShdw>
          </a:effectLst>
        </p:spPr>
      </p:sp>
      <p:sp>
        <p:nvSpPr>
          <p:cNvPr id="7" name="Text 4"/>
          <p:cNvSpPr/>
          <p:nvPr/>
        </p:nvSpPr>
        <p:spPr>
          <a:xfrm>
            <a:off x="6080760" y="1024128"/>
            <a:ext cx="2651760" cy="457200"/>
          </a:xfrm>
          <a:prstGeom prst="rect">
            <a:avLst/>
          </a:prstGeom>
          <a:noFill/>
          <a:ln/>
        </p:spPr>
        <p:txBody>
          <a:bodyPr wrap="square" lIns="0" tIns="0" rIns="0" bIns="0" rtlCol="0" anchor="ctr"/>
          <a:lstStyle/>
          <a:p>
            <a:pPr algn="ctr" indent="0" marL="0">
              <a:buNone/>
            </a:pPr>
            <a:r>
              <a:rPr lang="en-US" sz="2200" b="1" dirty="0">
                <a:solidFill>
                  <a:srgbClr val="06D6A0"/>
                </a:solidFill>
                <a:latin typeface="Cambria" pitchFamily="34" charset="0"/>
                <a:ea typeface="Cambria" pitchFamily="34" charset="-122"/>
                <a:cs typeface="Cambria" pitchFamily="34" charset="-120"/>
              </a:rPr>
              <a:t>Pearson r = −0.725</a:t>
            </a:r>
            <a:endParaRPr lang="en-US" sz="2200" dirty="0"/>
          </a:p>
        </p:txBody>
      </p:sp>
      <p:sp>
        <p:nvSpPr>
          <p:cNvPr id="8" name="Text 5"/>
          <p:cNvSpPr/>
          <p:nvPr/>
        </p:nvSpPr>
        <p:spPr>
          <a:xfrm>
            <a:off x="6080760" y="1508760"/>
            <a:ext cx="2651760" cy="274320"/>
          </a:xfrm>
          <a:prstGeom prst="rect">
            <a:avLst/>
          </a:prstGeom>
          <a:noFill/>
          <a:ln/>
        </p:spPr>
        <p:txBody>
          <a:bodyPr wrap="square" lIns="0" tIns="0" rIns="0" bIns="0" rtlCol="0" anchor="ctr"/>
          <a:lstStyle/>
          <a:p>
            <a:pPr algn="ctr" indent="0" marL="0">
              <a:buNone/>
            </a:pPr>
            <a:r>
              <a:rPr lang="en-US" sz="1000" dirty="0">
                <a:solidFill>
                  <a:srgbClr val="2D3F51"/>
                </a:solidFill>
                <a:latin typeface="Calibri" pitchFamily="34" charset="0"/>
                <a:ea typeface="Calibri" pitchFamily="34" charset="-122"/>
                <a:cs typeface="Calibri" pitchFamily="34" charset="-120"/>
              </a:rPr>
              <a:t>p = 0.002  (statistically significant)</a:t>
            </a:r>
            <a:endParaRPr lang="en-US" sz="1000" dirty="0"/>
          </a:p>
        </p:txBody>
      </p:sp>
      <p:sp>
        <p:nvSpPr>
          <p:cNvPr id="9" name="Text 6"/>
          <p:cNvSpPr/>
          <p:nvPr/>
        </p:nvSpPr>
        <p:spPr>
          <a:xfrm>
            <a:off x="5989320" y="2286000"/>
            <a:ext cx="2834640" cy="2011680"/>
          </a:xfrm>
          <a:prstGeom prst="rect">
            <a:avLst/>
          </a:prstGeom>
          <a:noFill/>
          <a:ln/>
        </p:spPr>
        <p:txBody>
          <a:bodyPr wrap="square" lIns="101600" tIns="101600" rIns="101600" bIns="101600" rtlCol="0" anchor="t"/>
          <a:lstStyle/>
          <a:p>
            <a:pPr indent="0" marL="0">
              <a:buNone/>
            </a:pPr>
            <a:r>
              <a:rPr lang="en-US" sz="1050" dirty="0">
                <a:solidFill>
                  <a:srgbClr val="2D3F51"/>
                </a:solidFill>
                <a:latin typeface="Calibri" pitchFamily="34" charset="0"/>
                <a:ea typeface="Calibri" pitchFamily="34" charset="-122"/>
                <a:cs typeface="Calibri" pitchFamily="34" charset="-120"/>
              </a:rPr>
              <a:t>Interpretation:</a:t>
            </a:r>
            <a:endParaRPr lang="en-US" sz="1050" dirty="0"/>
          </a:p>
          <a:p>
            <a:pPr indent="0" marL="0">
              <a:buNone/>
            </a:pPr>
            <a:r>
              <a:rPr lang="en-US" sz="1050" dirty="0">
                <a:solidFill>
                  <a:srgbClr val="2D3F51"/>
                </a:solidFill>
                <a:latin typeface="Calibri" pitchFamily="34" charset="0"/>
                <a:ea typeface="Calibri" pitchFamily="34" charset="-122"/>
                <a:cs typeface="Calibri" pitchFamily="34" charset="-120"/>
              </a:rPr>
              <a:t>Each 0.1 unit increase in SR is</a:t>
            </a:r>
            <a:endParaRPr lang="en-US" sz="1050" dirty="0"/>
          </a:p>
          <a:p>
            <a:pPr indent="0" marL="0">
              <a:buNone/>
            </a:pPr>
            <a:r>
              <a:rPr lang="en-US" sz="1050" dirty="0">
                <a:solidFill>
                  <a:srgbClr val="2D3F51"/>
                </a:solidFill>
                <a:latin typeface="Calibri" pitchFamily="34" charset="0"/>
                <a:ea typeface="Calibri" pitchFamily="34" charset="-122"/>
                <a:cs typeface="Calibri" pitchFamily="34" charset="-120"/>
              </a:rPr>
              <a:t>associated with ~11 points lower GRS.</a:t>
            </a:r>
            <a:endParaRPr lang="en-US" sz="1050" dirty="0"/>
          </a:p>
          <a:p>
            <a:pPr indent="0" marL="0">
              <a:buNone/>
            </a:pPr>
            <a:r>
              <a:rPr lang="en-US" sz="1050" dirty="0">
                <a:solidFill>
                  <a:srgbClr val="2D3F51"/>
                </a:solidFill>
                <a:latin typeface="Calibri" pitchFamily="34" charset="0"/>
                <a:ea typeface="Calibri" pitchFamily="34" charset="-122"/>
                <a:cs typeface="Calibri" pitchFamily="34" charset="-120"/>
              </a:rPr>
              <a:t>ICICI Bank (SR=0.286, GRS=33.6) and</a:t>
            </a:r>
            <a:endParaRPr lang="en-US" sz="1050" dirty="0"/>
          </a:p>
          <a:p>
            <a:pPr indent="0" marL="0">
              <a:buNone/>
            </a:pPr>
            <a:r>
              <a:rPr lang="en-US" sz="1050" dirty="0">
                <a:solidFill>
                  <a:srgbClr val="2D3F51"/>
                </a:solidFill>
                <a:latin typeface="Calibri" pitchFamily="34" charset="0"/>
                <a:ea typeface="Calibri" pitchFamily="34" charset="-122"/>
                <a:cs typeface="Calibri" pitchFamily="34" charset="-120"/>
              </a:rPr>
              <a:t>Dr. Reddy's (SR=0.200, GRS=53.2) are</a:t>
            </a:r>
            <a:endParaRPr lang="en-US" sz="1050" dirty="0"/>
          </a:p>
          <a:p>
            <a:pPr indent="0" marL="0">
              <a:buNone/>
            </a:pPr>
            <a:r>
              <a:rPr lang="en-US" sz="1050" dirty="0">
                <a:solidFill>
                  <a:srgbClr val="2D3F51"/>
                </a:solidFill>
                <a:latin typeface="Calibri" pitchFamily="34" charset="0"/>
                <a:ea typeface="Calibri" pitchFamily="34" charset="-122"/>
                <a:cs typeface="Calibri" pitchFamily="34" charset="-120"/>
              </a:rPr>
              <a:t>the strongest examples of high-specificity</a:t>
            </a:r>
            <a:endParaRPr lang="en-US" sz="1050" dirty="0"/>
          </a:p>
          <a:p>
            <a:pPr indent="0" marL="0">
              <a:buNone/>
            </a:pPr>
            <a:r>
              <a:rPr lang="en-US" sz="1050" dirty="0">
                <a:solidFill>
                  <a:srgbClr val="2D3F51"/>
                </a:solidFill>
                <a:latin typeface="Calibri" pitchFamily="34" charset="0"/>
                <a:ea typeface="Calibri" pitchFamily="34" charset="-122"/>
                <a:cs typeface="Calibri" pitchFamily="34" charset="-120"/>
              </a:rPr>
              <a:t>disclosure in the corpus.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2137"/>
          </a:solidFill>
          <a:ln/>
        </p:spPr>
      </p:sp>
      <p:sp>
        <p:nvSpPr>
          <p:cNvPr id="3" name="Text 1"/>
          <p:cNvSpPr/>
          <p:nvPr/>
        </p:nvSpPr>
        <p:spPr>
          <a:xfrm>
            <a:off x="365760" y="0"/>
            <a:ext cx="7315200" cy="7772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Topic Modelling: What Themes Dominate Each Sector's BRSR Language?</a:t>
            </a:r>
            <a:endParaRPr lang="en-US" sz="2200" dirty="0"/>
          </a:p>
        </p:txBody>
      </p:sp>
      <p:sp>
        <p:nvSpPr>
          <p:cNvPr id="4" name="Text 2"/>
          <p:cNvSpPr/>
          <p:nvPr/>
        </p:nvSpPr>
        <p:spPr>
          <a:xfrm>
            <a:off x="274320" y="4892040"/>
            <a:ext cx="8595360" cy="182880"/>
          </a:xfrm>
          <a:prstGeom prst="rect">
            <a:avLst/>
          </a:prstGeom>
          <a:noFill/>
          <a:ln/>
        </p:spPr>
        <p:txBody>
          <a:bodyPr wrap="square" lIns="0" tIns="0" rIns="0" bIns="0" rtlCol="0" anchor="ctr"/>
          <a:lstStyle/>
          <a:p>
            <a:pPr algn="ctr" indent="0" marL="0">
              <a:buNone/>
            </a:pPr>
            <a:r>
              <a:rPr lang="en-US" sz="700" dirty="0">
                <a:solidFill>
                  <a:srgbClr val="7B9BB8"/>
                </a:solidFill>
                <a:latin typeface="Calibri" pitchFamily="34" charset="0"/>
                <a:ea typeface="Calibri" pitchFamily="34" charset="-122"/>
                <a:cs typeface="Calibri" pitchFamily="34" charset="-120"/>
              </a:rPr>
              <a:t>BRSR Greenwashing Risk Screener  |  NLP Analysis, FY2022–25  |  [Your Name], June 2026</a:t>
            </a:r>
            <a:endParaRPr lang="en-US" sz="700" dirty="0"/>
          </a:p>
        </p:txBody>
      </p:sp>
      <p:sp>
        <p:nvSpPr>
          <p:cNvPr id="5" name="Shape 3"/>
          <p:cNvSpPr/>
          <p:nvPr/>
        </p:nvSpPr>
        <p:spPr>
          <a:xfrm>
            <a:off x="320040" y="960120"/>
            <a:ext cx="8503920" cy="658368"/>
          </a:xfrm>
          <a:prstGeom prst="rect">
            <a:avLst>
              <a:gd name="adj" fmla="val 8333"/>
            </a:avLst>
          </a:prstGeom>
          <a:solidFill>
            <a:srgbClr val="F0F4F8"/>
          </a:solidFill>
          <a:ln w="6350">
            <a:solidFill>
              <a:srgbClr val="E2EBF3"/>
            </a:solidFill>
            <a:prstDash val="solid"/>
          </a:ln>
          <a:effectLst>
            <a:outerShdw sx="100000" sy="100000" kx="0" ky="0" algn="bl" rotWithShape="0" blurRad="127000" dist="38100" dir="2700000">
              <a:srgbClr val="000000">
                <a:alpha val="10000"/>
              </a:srgbClr>
            </a:outerShdw>
          </a:effectLst>
        </p:spPr>
      </p:sp>
      <p:sp>
        <p:nvSpPr>
          <p:cNvPr id="6" name="Shape 4"/>
          <p:cNvSpPr/>
          <p:nvPr/>
        </p:nvSpPr>
        <p:spPr>
          <a:xfrm>
            <a:off x="320040" y="960120"/>
            <a:ext cx="502920" cy="658368"/>
          </a:xfrm>
          <a:prstGeom prst="rect">
            <a:avLst>
              <a:gd name="adj" fmla="val 9091"/>
            </a:avLst>
          </a:prstGeom>
          <a:solidFill>
            <a:srgbClr val="EF4444">
              <a:alpha val="90000"/>
            </a:srgbClr>
          </a:solidFill>
          <a:ln/>
        </p:spPr>
      </p:sp>
      <p:sp>
        <p:nvSpPr>
          <p:cNvPr id="7" name="Text 5"/>
          <p:cNvSpPr/>
          <p:nvPr/>
        </p:nvSpPr>
        <p:spPr>
          <a:xfrm>
            <a:off x="320040" y="960120"/>
            <a:ext cx="502920"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T0</a:t>
            </a:r>
            <a:endParaRPr lang="en-US" sz="1300" dirty="0"/>
          </a:p>
        </p:txBody>
      </p:sp>
      <p:sp>
        <p:nvSpPr>
          <p:cNvPr id="8" name="Text 6"/>
          <p:cNvSpPr/>
          <p:nvPr/>
        </p:nvSpPr>
        <p:spPr>
          <a:xfrm>
            <a:off x="960120" y="996696"/>
            <a:ext cx="4114800" cy="320040"/>
          </a:xfrm>
          <a:prstGeom prst="rect">
            <a:avLst/>
          </a:prstGeom>
          <a:noFill/>
          <a:ln/>
        </p:spPr>
        <p:txBody>
          <a:bodyPr wrap="square" lIns="0" tIns="0" rIns="0" bIns="0" rtlCol="0" anchor="b"/>
          <a:lstStyle/>
          <a:p>
            <a:pPr indent="0" marL="0">
              <a:buNone/>
            </a:pPr>
            <a:r>
              <a:rPr lang="en-US" sz="1200" b="1" dirty="0">
                <a:solidFill>
                  <a:srgbClr val="2D3F51"/>
                </a:solidFill>
                <a:latin typeface="Cambria" pitchFamily="34" charset="0"/>
                <a:ea typeface="Cambria" pitchFamily="34" charset="-122"/>
                <a:cs typeface="Cambria" pitchFamily="34" charset="-120"/>
              </a:rPr>
              <a:t>Environmental Performance</a:t>
            </a:r>
            <a:endParaRPr lang="en-US" sz="1200" dirty="0"/>
          </a:p>
        </p:txBody>
      </p:sp>
      <p:sp>
        <p:nvSpPr>
          <p:cNvPr id="9" name="Text 7"/>
          <p:cNvSpPr/>
          <p:nvPr/>
        </p:nvSpPr>
        <p:spPr>
          <a:xfrm>
            <a:off x="960120" y="1325880"/>
            <a:ext cx="7726680" cy="237744"/>
          </a:xfrm>
          <a:prstGeom prst="rect">
            <a:avLst/>
          </a:prstGeom>
          <a:noFill/>
          <a:ln/>
        </p:spPr>
        <p:txBody>
          <a:bodyPr wrap="square" lIns="0" tIns="0" rIns="0" bIns="0" rtlCol="0" anchor="t"/>
          <a:lstStyle/>
          <a:p>
            <a:pPr indent="0" marL="0">
              <a:buNone/>
            </a:pPr>
            <a:r>
              <a:rPr lang="en-US" sz="950" dirty="0">
                <a:solidFill>
                  <a:srgbClr val="7B9BB8"/>
                </a:solidFill>
                <a:latin typeface="Calibri" pitchFamily="34" charset="0"/>
                <a:ea typeface="Calibri" pitchFamily="34" charset="-122"/>
                <a:cs typeface="Calibri" pitchFamily="34" charset="-120"/>
              </a:rPr>
              <a:t>Keywords: ghg, emissions, energy, water, waste, intensity</a:t>
            </a:r>
            <a:endParaRPr lang="en-US" sz="950" dirty="0"/>
          </a:p>
        </p:txBody>
      </p:sp>
      <p:sp>
        <p:nvSpPr>
          <p:cNvPr id="10" name="Shape 8"/>
          <p:cNvSpPr/>
          <p:nvPr/>
        </p:nvSpPr>
        <p:spPr>
          <a:xfrm>
            <a:off x="320040" y="1737360"/>
            <a:ext cx="8503920" cy="658368"/>
          </a:xfrm>
          <a:prstGeom prst="rect">
            <a:avLst>
              <a:gd name="adj" fmla="val 8333"/>
            </a:avLst>
          </a:prstGeom>
          <a:solidFill>
            <a:srgbClr val="F0F4F8"/>
          </a:solidFill>
          <a:ln w="6350">
            <a:solidFill>
              <a:srgbClr val="E2EBF3"/>
            </a:solidFill>
            <a:prstDash val="solid"/>
          </a:ln>
          <a:effectLst>
            <a:outerShdw sx="100000" sy="100000" kx="0" ky="0" algn="bl" rotWithShape="0" blurRad="127000" dist="38100" dir="2700000">
              <a:srgbClr val="000000">
                <a:alpha val="10000"/>
              </a:srgbClr>
            </a:outerShdw>
          </a:effectLst>
        </p:spPr>
      </p:sp>
      <p:sp>
        <p:nvSpPr>
          <p:cNvPr id="11" name="Shape 9"/>
          <p:cNvSpPr/>
          <p:nvPr/>
        </p:nvSpPr>
        <p:spPr>
          <a:xfrm>
            <a:off x="320040" y="1737360"/>
            <a:ext cx="502920" cy="658368"/>
          </a:xfrm>
          <a:prstGeom prst="rect">
            <a:avLst>
              <a:gd name="adj" fmla="val 9091"/>
            </a:avLst>
          </a:prstGeom>
          <a:solidFill>
            <a:srgbClr val="3B82F6">
              <a:alpha val="90000"/>
            </a:srgbClr>
          </a:solidFill>
          <a:ln/>
        </p:spPr>
      </p:sp>
      <p:sp>
        <p:nvSpPr>
          <p:cNvPr id="12" name="Text 10"/>
          <p:cNvSpPr/>
          <p:nvPr/>
        </p:nvSpPr>
        <p:spPr>
          <a:xfrm>
            <a:off x="320040" y="1737360"/>
            <a:ext cx="502920"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T1</a:t>
            </a:r>
            <a:endParaRPr lang="en-US" sz="1300" dirty="0"/>
          </a:p>
        </p:txBody>
      </p:sp>
      <p:sp>
        <p:nvSpPr>
          <p:cNvPr id="13" name="Text 11"/>
          <p:cNvSpPr/>
          <p:nvPr/>
        </p:nvSpPr>
        <p:spPr>
          <a:xfrm>
            <a:off x="960120" y="1773936"/>
            <a:ext cx="4114800" cy="320040"/>
          </a:xfrm>
          <a:prstGeom prst="rect">
            <a:avLst/>
          </a:prstGeom>
          <a:noFill/>
          <a:ln/>
        </p:spPr>
        <p:txBody>
          <a:bodyPr wrap="square" lIns="0" tIns="0" rIns="0" bIns="0" rtlCol="0" anchor="b"/>
          <a:lstStyle/>
          <a:p>
            <a:pPr indent="0" marL="0">
              <a:buNone/>
            </a:pPr>
            <a:r>
              <a:rPr lang="en-US" sz="1200" b="1" dirty="0">
                <a:solidFill>
                  <a:srgbClr val="2D3F51"/>
                </a:solidFill>
                <a:latin typeface="Cambria" pitchFamily="34" charset="0"/>
                <a:ea typeface="Cambria" pitchFamily="34" charset="-122"/>
                <a:cs typeface="Cambria" pitchFamily="34" charset="-120"/>
              </a:rPr>
              <a:t>Governance &amp; Ethics</a:t>
            </a:r>
            <a:endParaRPr lang="en-US" sz="1200" dirty="0"/>
          </a:p>
        </p:txBody>
      </p:sp>
      <p:sp>
        <p:nvSpPr>
          <p:cNvPr id="14" name="Text 12"/>
          <p:cNvSpPr/>
          <p:nvPr/>
        </p:nvSpPr>
        <p:spPr>
          <a:xfrm>
            <a:off x="960120" y="2103120"/>
            <a:ext cx="7726680" cy="237744"/>
          </a:xfrm>
          <a:prstGeom prst="rect">
            <a:avLst/>
          </a:prstGeom>
          <a:noFill/>
          <a:ln/>
        </p:spPr>
        <p:txBody>
          <a:bodyPr wrap="square" lIns="0" tIns="0" rIns="0" bIns="0" rtlCol="0" anchor="t"/>
          <a:lstStyle/>
          <a:p>
            <a:pPr indent="0" marL="0">
              <a:buNone/>
            </a:pPr>
            <a:r>
              <a:rPr lang="en-US" sz="950" dirty="0">
                <a:solidFill>
                  <a:srgbClr val="7B9BB8"/>
                </a:solidFill>
                <a:latin typeface="Calibri" pitchFamily="34" charset="0"/>
                <a:ea typeface="Calibri" pitchFamily="34" charset="-122"/>
                <a:cs typeface="Calibri" pitchFamily="34" charset="-120"/>
              </a:rPr>
              <a:t>Keywords: board, policy, compliance, audit, risk, disclosure</a:t>
            </a:r>
            <a:endParaRPr lang="en-US" sz="950" dirty="0"/>
          </a:p>
        </p:txBody>
      </p:sp>
      <p:sp>
        <p:nvSpPr>
          <p:cNvPr id="15" name="Shape 13"/>
          <p:cNvSpPr/>
          <p:nvPr/>
        </p:nvSpPr>
        <p:spPr>
          <a:xfrm>
            <a:off x="320040" y="2514600"/>
            <a:ext cx="8503920" cy="658368"/>
          </a:xfrm>
          <a:prstGeom prst="rect">
            <a:avLst>
              <a:gd name="adj" fmla="val 8333"/>
            </a:avLst>
          </a:prstGeom>
          <a:solidFill>
            <a:srgbClr val="F0F4F8"/>
          </a:solidFill>
          <a:ln w="6350">
            <a:solidFill>
              <a:srgbClr val="E2EBF3"/>
            </a:solidFill>
            <a:prstDash val="solid"/>
          </a:ln>
          <a:effectLst>
            <a:outerShdw sx="100000" sy="100000" kx="0" ky="0" algn="bl" rotWithShape="0" blurRad="127000" dist="38100" dir="2700000">
              <a:srgbClr val="000000">
                <a:alpha val="10000"/>
              </a:srgbClr>
            </a:outerShdw>
          </a:effectLst>
        </p:spPr>
      </p:sp>
      <p:sp>
        <p:nvSpPr>
          <p:cNvPr id="16" name="Shape 14"/>
          <p:cNvSpPr/>
          <p:nvPr/>
        </p:nvSpPr>
        <p:spPr>
          <a:xfrm>
            <a:off x="320040" y="2514600"/>
            <a:ext cx="502920" cy="658368"/>
          </a:xfrm>
          <a:prstGeom prst="rect">
            <a:avLst>
              <a:gd name="adj" fmla="val 9091"/>
            </a:avLst>
          </a:prstGeom>
          <a:solidFill>
            <a:srgbClr val="06D6A0">
              <a:alpha val="90000"/>
            </a:srgbClr>
          </a:solidFill>
          <a:ln/>
        </p:spPr>
      </p:sp>
      <p:sp>
        <p:nvSpPr>
          <p:cNvPr id="17" name="Text 15"/>
          <p:cNvSpPr/>
          <p:nvPr/>
        </p:nvSpPr>
        <p:spPr>
          <a:xfrm>
            <a:off x="320040" y="2514600"/>
            <a:ext cx="502920"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T2</a:t>
            </a:r>
            <a:endParaRPr lang="en-US" sz="1300" dirty="0"/>
          </a:p>
        </p:txBody>
      </p:sp>
      <p:sp>
        <p:nvSpPr>
          <p:cNvPr id="18" name="Text 16"/>
          <p:cNvSpPr/>
          <p:nvPr/>
        </p:nvSpPr>
        <p:spPr>
          <a:xfrm>
            <a:off x="960120" y="2551176"/>
            <a:ext cx="4114800" cy="320040"/>
          </a:xfrm>
          <a:prstGeom prst="rect">
            <a:avLst/>
          </a:prstGeom>
          <a:noFill/>
          <a:ln/>
        </p:spPr>
        <p:txBody>
          <a:bodyPr wrap="square" lIns="0" tIns="0" rIns="0" bIns="0" rtlCol="0" anchor="b"/>
          <a:lstStyle/>
          <a:p>
            <a:pPr indent="0" marL="0">
              <a:buNone/>
            </a:pPr>
            <a:r>
              <a:rPr lang="en-US" sz="1200" b="1" dirty="0">
                <a:solidFill>
                  <a:srgbClr val="2D3F51"/>
                </a:solidFill>
                <a:latin typeface="Cambria" pitchFamily="34" charset="0"/>
                <a:ea typeface="Cambria" pitchFamily="34" charset="-122"/>
                <a:cs typeface="Cambria" pitchFamily="34" charset="-120"/>
              </a:rPr>
              <a:t>Employee Well-being</a:t>
            </a:r>
            <a:endParaRPr lang="en-US" sz="1200" dirty="0"/>
          </a:p>
        </p:txBody>
      </p:sp>
      <p:sp>
        <p:nvSpPr>
          <p:cNvPr id="19" name="Text 17"/>
          <p:cNvSpPr/>
          <p:nvPr/>
        </p:nvSpPr>
        <p:spPr>
          <a:xfrm>
            <a:off x="960120" y="2880360"/>
            <a:ext cx="7726680" cy="237744"/>
          </a:xfrm>
          <a:prstGeom prst="rect">
            <a:avLst/>
          </a:prstGeom>
          <a:noFill/>
          <a:ln/>
        </p:spPr>
        <p:txBody>
          <a:bodyPr wrap="square" lIns="0" tIns="0" rIns="0" bIns="0" rtlCol="0" anchor="t"/>
          <a:lstStyle/>
          <a:p>
            <a:pPr indent="0" marL="0">
              <a:buNone/>
            </a:pPr>
            <a:r>
              <a:rPr lang="en-US" sz="950" dirty="0">
                <a:solidFill>
                  <a:srgbClr val="7B9BB8"/>
                </a:solidFill>
                <a:latin typeface="Calibri" pitchFamily="34" charset="0"/>
                <a:ea typeface="Calibri" pitchFamily="34" charset="-122"/>
                <a:cs typeface="Calibri" pitchFamily="34" charset="-120"/>
              </a:rPr>
              <a:t>Keywords: training, health, safety, employees, diversity, welfare</a:t>
            </a:r>
            <a:endParaRPr lang="en-US" sz="950" dirty="0"/>
          </a:p>
        </p:txBody>
      </p:sp>
      <p:sp>
        <p:nvSpPr>
          <p:cNvPr id="20" name="Shape 18"/>
          <p:cNvSpPr/>
          <p:nvPr/>
        </p:nvSpPr>
        <p:spPr>
          <a:xfrm>
            <a:off x="320040" y="3291840"/>
            <a:ext cx="8503920" cy="658368"/>
          </a:xfrm>
          <a:prstGeom prst="rect">
            <a:avLst>
              <a:gd name="adj" fmla="val 8333"/>
            </a:avLst>
          </a:prstGeom>
          <a:solidFill>
            <a:srgbClr val="F0F4F8"/>
          </a:solidFill>
          <a:ln w="6350">
            <a:solidFill>
              <a:srgbClr val="E2EBF3"/>
            </a:solidFill>
            <a:prstDash val="solid"/>
          </a:ln>
          <a:effectLst>
            <a:outerShdw sx="100000" sy="100000" kx="0" ky="0" algn="bl" rotWithShape="0" blurRad="127000" dist="38100" dir="2700000">
              <a:srgbClr val="000000">
                <a:alpha val="10000"/>
              </a:srgbClr>
            </a:outerShdw>
          </a:effectLst>
        </p:spPr>
      </p:sp>
      <p:sp>
        <p:nvSpPr>
          <p:cNvPr id="21" name="Shape 19"/>
          <p:cNvSpPr/>
          <p:nvPr/>
        </p:nvSpPr>
        <p:spPr>
          <a:xfrm>
            <a:off x="320040" y="3291840"/>
            <a:ext cx="502920" cy="658368"/>
          </a:xfrm>
          <a:prstGeom prst="rect">
            <a:avLst>
              <a:gd name="adj" fmla="val 9091"/>
            </a:avLst>
          </a:prstGeom>
          <a:solidFill>
            <a:srgbClr val="F97316">
              <a:alpha val="90000"/>
            </a:srgbClr>
          </a:solidFill>
          <a:ln/>
        </p:spPr>
      </p:sp>
      <p:sp>
        <p:nvSpPr>
          <p:cNvPr id="22" name="Text 20"/>
          <p:cNvSpPr/>
          <p:nvPr/>
        </p:nvSpPr>
        <p:spPr>
          <a:xfrm>
            <a:off x="320040" y="3291840"/>
            <a:ext cx="502920"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T3</a:t>
            </a:r>
            <a:endParaRPr lang="en-US" sz="1300" dirty="0"/>
          </a:p>
        </p:txBody>
      </p:sp>
      <p:sp>
        <p:nvSpPr>
          <p:cNvPr id="23" name="Text 21"/>
          <p:cNvSpPr/>
          <p:nvPr/>
        </p:nvSpPr>
        <p:spPr>
          <a:xfrm>
            <a:off x="960120" y="3328416"/>
            <a:ext cx="4114800" cy="320040"/>
          </a:xfrm>
          <a:prstGeom prst="rect">
            <a:avLst/>
          </a:prstGeom>
          <a:noFill/>
          <a:ln/>
        </p:spPr>
        <p:txBody>
          <a:bodyPr wrap="square" lIns="0" tIns="0" rIns="0" bIns="0" rtlCol="0" anchor="b"/>
          <a:lstStyle/>
          <a:p>
            <a:pPr indent="0" marL="0">
              <a:buNone/>
            </a:pPr>
            <a:r>
              <a:rPr lang="en-US" sz="1200" b="1" dirty="0">
                <a:solidFill>
                  <a:srgbClr val="2D3F51"/>
                </a:solidFill>
                <a:latin typeface="Cambria" pitchFamily="34" charset="0"/>
                <a:ea typeface="Cambria" pitchFamily="34" charset="-122"/>
                <a:cs typeface="Cambria" pitchFamily="34" charset="-120"/>
              </a:rPr>
              <a:t>Supply Chain &amp; Circularity</a:t>
            </a:r>
            <a:endParaRPr lang="en-US" sz="1200" dirty="0"/>
          </a:p>
        </p:txBody>
      </p:sp>
      <p:sp>
        <p:nvSpPr>
          <p:cNvPr id="24" name="Text 22"/>
          <p:cNvSpPr/>
          <p:nvPr/>
        </p:nvSpPr>
        <p:spPr>
          <a:xfrm>
            <a:off x="960120" y="3657600"/>
            <a:ext cx="7726680" cy="237744"/>
          </a:xfrm>
          <a:prstGeom prst="rect">
            <a:avLst/>
          </a:prstGeom>
          <a:noFill/>
          <a:ln/>
        </p:spPr>
        <p:txBody>
          <a:bodyPr wrap="square" lIns="0" tIns="0" rIns="0" bIns="0" rtlCol="0" anchor="t"/>
          <a:lstStyle/>
          <a:p>
            <a:pPr indent="0" marL="0">
              <a:buNone/>
            </a:pPr>
            <a:r>
              <a:rPr lang="en-US" sz="950" dirty="0">
                <a:solidFill>
                  <a:srgbClr val="7B9BB8"/>
                </a:solidFill>
                <a:latin typeface="Calibri" pitchFamily="34" charset="0"/>
                <a:ea typeface="Calibri" pitchFamily="34" charset="-122"/>
                <a:cs typeface="Calibri" pitchFamily="34" charset="-120"/>
              </a:rPr>
              <a:t>Keywords: supplier, material, circular, waste, sourcing, value chain</a:t>
            </a:r>
            <a:endParaRPr lang="en-US" sz="950" dirty="0"/>
          </a:p>
        </p:txBody>
      </p:sp>
      <p:sp>
        <p:nvSpPr>
          <p:cNvPr id="25" name="Shape 23"/>
          <p:cNvSpPr/>
          <p:nvPr/>
        </p:nvSpPr>
        <p:spPr>
          <a:xfrm>
            <a:off x="320040" y="4069080"/>
            <a:ext cx="8503920" cy="658368"/>
          </a:xfrm>
          <a:prstGeom prst="rect">
            <a:avLst>
              <a:gd name="adj" fmla="val 8333"/>
            </a:avLst>
          </a:prstGeom>
          <a:solidFill>
            <a:srgbClr val="F0F4F8"/>
          </a:solidFill>
          <a:ln w="6350">
            <a:solidFill>
              <a:srgbClr val="E2EBF3"/>
            </a:solidFill>
            <a:prstDash val="solid"/>
          </a:ln>
          <a:effectLst>
            <a:outerShdw sx="100000" sy="100000" kx="0" ky="0" algn="bl" rotWithShape="0" blurRad="127000" dist="38100" dir="2700000">
              <a:srgbClr val="000000">
                <a:alpha val="10000"/>
              </a:srgbClr>
            </a:outerShdw>
          </a:effectLst>
        </p:spPr>
      </p:sp>
      <p:sp>
        <p:nvSpPr>
          <p:cNvPr id="26" name="Shape 24"/>
          <p:cNvSpPr/>
          <p:nvPr/>
        </p:nvSpPr>
        <p:spPr>
          <a:xfrm>
            <a:off x="320040" y="4069080"/>
            <a:ext cx="502920" cy="658368"/>
          </a:xfrm>
          <a:prstGeom prst="rect">
            <a:avLst>
              <a:gd name="adj" fmla="val 9091"/>
            </a:avLst>
          </a:prstGeom>
          <a:solidFill>
            <a:srgbClr val="A855F7">
              <a:alpha val="90000"/>
            </a:srgbClr>
          </a:solidFill>
          <a:ln/>
        </p:spPr>
      </p:sp>
      <p:sp>
        <p:nvSpPr>
          <p:cNvPr id="27" name="Text 25"/>
          <p:cNvSpPr/>
          <p:nvPr/>
        </p:nvSpPr>
        <p:spPr>
          <a:xfrm>
            <a:off x="320040" y="4069080"/>
            <a:ext cx="502920"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T4</a:t>
            </a:r>
            <a:endParaRPr lang="en-US" sz="1300" dirty="0"/>
          </a:p>
        </p:txBody>
      </p:sp>
      <p:sp>
        <p:nvSpPr>
          <p:cNvPr id="28" name="Text 26"/>
          <p:cNvSpPr/>
          <p:nvPr/>
        </p:nvSpPr>
        <p:spPr>
          <a:xfrm>
            <a:off x="960120" y="4105656"/>
            <a:ext cx="4114800" cy="320040"/>
          </a:xfrm>
          <a:prstGeom prst="rect">
            <a:avLst/>
          </a:prstGeom>
          <a:noFill/>
          <a:ln/>
        </p:spPr>
        <p:txBody>
          <a:bodyPr wrap="square" lIns="0" tIns="0" rIns="0" bIns="0" rtlCol="0" anchor="b"/>
          <a:lstStyle/>
          <a:p>
            <a:pPr indent="0" marL="0">
              <a:buNone/>
            </a:pPr>
            <a:r>
              <a:rPr lang="en-US" sz="1200" b="1" dirty="0">
                <a:solidFill>
                  <a:srgbClr val="2D3F51"/>
                </a:solidFill>
                <a:latin typeface="Cambria" pitchFamily="34" charset="0"/>
                <a:ea typeface="Cambria" pitchFamily="34" charset="-122"/>
                <a:cs typeface="Cambria" pitchFamily="34" charset="-120"/>
              </a:rPr>
              <a:t>Climate &amp; GHG Targets</a:t>
            </a:r>
            <a:endParaRPr lang="en-US" sz="1200" dirty="0"/>
          </a:p>
        </p:txBody>
      </p:sp>
      <p:sp>
        <p:nvSpPr>
          <p:cNvPr id="29" name="Text 27"/>
          <p:cNvSpPr/>
          <p:nvPr/>
        </p:nvSpPr>
        <p:spPr>
          <a:xfrm>
            <a:off x="960120" y="4434840"/>
            <a:ext cx="7726680" cy="237744"/>
          </a:xfrm>
          <a:prstGeom prst="rect">
            <a:avLst/>
          </a:prstGeom>
          <a:noFill/>
          <a:ln/>
        </p:spPr>
        <p:txBody>
          <a:bodyPr wrap="square" lIns="0" tIns="0" rIns="0" bIns="0" rtlCol="0" anchor="t"/>
          <a:lstStyle/>
          <a:p>
            <a:pPr indent="0" marL="0">
              <a:buNone/>
            </a:pPr>
            <a:r>
              <a:rPr lang="en-US" sz="950" dirty="0">
                <a:solidFill>
                  <a:srgbClr val="7B9BB8"/>
                </a:solidFill>
                <a:latin typeface="Calibri" pitchFamily="34" charset="0"/>
                <a:ea typeface="Calibri" pitchFamily="34" charset="-122"/>
                <a:cs typeface="Calibri" pitchFamily="34" charset="-120"/>
              </a:rPr>
              <a:t>Keywords: net zero, scope 1, scope 2, carbon, target, baseline</a:t>
            </a:r>
            <a:endParaRPr lang="en-US" sz="950" dirty="0"/>
          </a:p>
        </p:txBody>
      </p:sp>
      <p:sp>
        <p:nvSpPr>
          <p:cNvPr id="30" name="Text 28"/>
          <p:cNvSpPr/>
          <p:nvPr/>
        </p:nvSpPr>
        <p:spPr>
          <a:xfrm>
            <a:off x="320040" y="4846320"/>
            <a:ext cx="8503920" cy="256032"/>
          </a:xfrm>
          <a:prstGeom prst="rect">
            <a:avLst/>
          </a:prstGeom>
          <a:noFill/>
          <a:ln/>
        </p:spPr>
        <p:txBody>
          <a:bodyPr wrap="square" lIns="0" tIns="0" rIns="0" bIns="0" rtlCol="0" anchor="ctr"/>
          <a:lstStyle/>
          <a:p>
            <a:pPr indent="0" marL="0">
              <a:buNone/>
            </a:pPr>
            <a:r>
              <a:rPr lang="en-US" sz="950" i="1" dirty="0">
                <a:solidFill>
                  <a:srgbClr val="7B9BB8"/>
                </a:solidFill>
                <a:latin typeface="Calibri" pitchFamily="34" charset="0"/>
                <a:ea typeface="Calibri" pitchFamily="34" charset="-122"/>
                <a:cs typeface="Calibri" pitchFamily="34" charset="-120"/>
              </a:rPr>
              <a:t>Key finding: Cement and Steel reports load heavily on Climate &amp; GHG Targets (T4) — signalling ambition. But their SR scores are near zero, meaning the same climate language is aspirational, not quantified.</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2137"/>
          </a:solidFill>
          <a:ln/>
        </p:spPr>
      </p:sp>
      <p:sp>
        <p:nvSpPr>
          <p:cNvPr id="3" name="Text 1"/>
          <p:cNvSpPr/>
          <p:nvPr/>
        </p:nvSpPr>
        <p:spPr>
          <a:xfrm>
            <a:off x="365760" y="0"/>
            <a:ext cx="7315200" cy="7772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Extended Methods: FinBERT Sentiment + SQL Analytics Layer</a:t>
            </a:r>
            <a:endParaRPr lang="en-US" sz="2200" dirty="0"/>
          </a:p>
        </p:txBody>
      </p:sp>
      <p:sp>
        <p:nvSpPr>
          <p:cNvPr id="4" name="Text 2"/>
          <p:cNvSpPr/>
          <p:nvPr/>
        </p:nvSpPr>
        <p:spPr>
          <a:xfrm>
            <a:off x="274320" y="4892040"/>
            <a:ext cx="8595360" cy="182880"/>
          </a:xfrm>
          <a:prstGeom prst="rect">
            <a:avLst/>
          </a:prstGeom>
          <a:noFill/>
          <a:ln/>
        </p:spPr>
        <p:txBody>
          <a:bodyPr wrap="square" lIns="0" tIns="0" rIns="0" bIns="0" rtlCol="0" anchor="ctr"/>
          <a:lstStyle/>
          <a:p>
            <a:pPr algn="ctr" indent="0" marL="0">
              <a:buNone/>
            </a:pPr>
            <a:r>
              <a:rPr lang="en-US" sz="700" dirty="0">
                <a:solidFill>
                  <a:srgbClr val="7B9BB8"/>
                </a:solidFill>
                <a:latin typeface="Calibri" pitchFamily="34" charset="0"/>
                <a:ea typeface="Calibri" pitchFamily="34" charset="-122"/>
                <a:cs typeface="Calibri" pitchFamily="34" charset="-120"/>
              </a:rPr>
              <a:t>BRSR Greenwashing Risk Screener  |  NLP Analysis, FY2022–25  |  [Your Name], June 2026</a:t>
            </a:r>
            <a:endParaRPr lang="en-US" sz="700" dirty="0"/>
          </a:p>
        </p:txBody>
      </p:sp>
      <p:sp>
        <p:nvSpPr>
          <p:cNvPr id="5" name="Shape 3"/>
          <p:cNvSpPr/>
          <p:nvPr/>
        </p:nvSpPr>
        <p:spPr>
          <a:xfrm>
            <a:off x="320040" y="960120"/>
            <a:ext cx="4114800" cy="3794760"/>
          </a:xfrm>
          <a:prstGeom prst="rect">
            <a:avLst>
              <a:gd name="adj" fmla="val 1446"/>
            </a:avLst>
          </a:prstGeom>
          <a:solidFill>
            <a:srgbClr val="F0F4F8"/>
          </a:solidFill>
          <a:ln w="6350">
            <a:solidFill>
              <a:srgbClr val="E2EBF3"/>
            </a:solidFill>
            <a:prstDash val="solid"/>
          </a:ln>
          <a:effectLst>
            <a:outerShdw sx="100000" sy="100000" kx="0" ky="0" algn="bl" rotWithShape="0" blurRad="127000" dist="38100" dir="2700000">
              <a:srgbClr val="000000">
                <a:alpha val="10000"/>
              </a:srgbClr>
            </a:outerShdw>
          </a:effectLst>
        </p:spPr>
      </p:sp>
      <p:pic>
        <p:nvPicPr>
          <p:cNvPr id="6" name="Image 0" descr="preencoded.png">    </p:cNvPr>
          <p:cNvPicPr>
            <a:picLocks noChangeAspect="1"/>
          </p:cNvPicPr>
          <p:nvPr/>
        </p:nvPicPr>
        <p:blipFill>
          <a:blip r:embed="rId1"/>
          <a:stretch>
            <a:fillRect/>
          </a:stretch>
        </p:blipFill>
        <p:spPr>
          <a:xfrm>
            <a:off x="502920" y="1115568"/>
            <a:ext cx="502920" cy="502920"/>
          </a:xfrm>
          <a:prstGeom prst="rect">
            <a:avLst/>
          </a:prstGeom>
        </p:spPr>
      </p:pic>
      <p:sp>
        <p:nvSpPr>
          <p:cNvPr id="7" name="Text 4"/>
          <p:cNvSpPr/>
          <p:nvPr/>
        </p:nvSpPr>
        <p:spPr>
          <a:xfrm>
            <a:off x="1097280" y="1143000"/>
            <a:ext cx="3200400" cy="384048"/>
          </a:xfrm>
          <a:prstGeom prst="rect">
            <a:avLst/>
          </a:prstGeom>
          <a:noFill/>
          <a:ln/>
        </p:spPr>
        <p:txBody>
          <a:bodyPr wrap="square" lIns="0" tIns="0" rIns="0" bIns="0" rtlCol="0" anchor="ctr"/>
          <a:lstStyle/>
          <a:p>
            <a:pPr indent="0" marL="0">
              <a:buNone/>
            </a:pPr>
            <a:r>
              <a:rPr lang="en-US" sz="1300" b="1" dirty="0">
                <a:solidFill>
                  <a:srgbClr val="2D3F51"/>
                </a:solidFill>
                <a:latin typeface="Cambria" pitchFamily="34" charset="0"/>
                <a:ea typeface="Cambria" pitchFamily="34" charset="-122"/>
                <a:cs typeface="Cambria" pitchFamily="34" charset="-120"/>
              </a:rPr>
              <a:t>FinBERT Extension (Google Colab)</a:t>
            </a:r>
            <a:endParaRPr lang="en-US" sz="1300" dirty="0"/>
          </a:p>
        </p:txBody>
      </p:sp>
      <p:sp>
        <p:nvSpPr>
          <p:cNvPr id="8" name="Text 5"/>
          <p:cNvSpPr/>
          <p:nvPr/>
        </p:nvSpPr>
        <p:spPr>
          <a:xfrm>
            <a:off x="457200" y="1627632"/>
            <a:ext cx="3840480" cy="2971800"/>
          </a:xfrm>
          <a:prstGeom prst="rect">
            <a:avLst/>
          </a:prstGeom>
          <a:noFill/>
          <a:ln/>
        </p:spPr>
        <p:txBody>
          <a:bodyPr wrap="square" lIns="76200" tIns="76200" rIns="76200" bIns="76200" rtlCol="0" anchor="ctr"/>
          <a:lstStyle/>
          <a:p>
            <a:pPr marL="342900" indent="-342900">
              <a:buSzPct val="100000"/>
              <a:buChar char="•"/>
            </a:pPr>
            <a:r>
              <a:rPr lang="en-US" sz="1000" dirty="0">
                <a:solidFill>
                  <a:srgbClr val="2D3F51"/>
                </a:solidFill>
                <a:latin typeface="Calibri" pitchFamily="34" charset="0"/>
                <a:ea typeface="Calibri" pitchFamily="34" charset="-122"/>
                <a:cs typeface="Calibri" pitchFamily="34" charset="-120"/>
              </a:rPr>
              <a:t>ProsusAI/finbert — BERT fine-tuned on financial news (Araci, 2019)</a:t>
            </a:r>
            <a:endParaRPr lang="en-US" sz="1000" dirty="0"/>
          </a:p>
          <a:p>
            <a:pPr marL="342900" indent="-342900">
              <a:buSzPct val="100000"/>
              <a:buChar char="•"/>
            </a:pPr>
            <a:r>
              <a:rPr lang="en-US" sz="1000" dirty="0">
                <a:solidFill>
                  <a:srgbClr val="2D3F51"/>
                </a:solidFill>
                <a:latin typeface="Calibri" pitchFamily="34" charset="0"/>
                <a:ea typeface="Calibri" pitchFamily="34" charset="-122"/>
                <a:cs typeface="Calibri" pitchFamily="34" charset="-120"/>
              </a:rPr>
              <a:t>Classifies each sentence: positive / negative / neutral</a:t>
            </a:r>
            <a:endParaRPr lang="en-US" sz="1000" dirty="0"/>
          </a:p>
          <a:p>
            <a:pPr marL="342900" indent="-342900">
              <a:buSzPct val="100000"/>
              <a:buChar char="•"/>
            </a:pPr>
            <a:r>
              <a:rPr lang="en-US" sz="1000" dirty="0">
                <a:solidFill>
                  <a:srgbClr val="2D3F51"/>
                </a:solidFill>
                <a:latin typeface="Calibri" pitchFamily="34" charset="0"/>
                <a:ea typeface="Calibri" pitchFamily="34" charset="-122"/>
                <a:cs typeface="Calibri" pitchFamily="34" charset="-120"/>
              </a:rPr>
              <a:t>High positive FinBERT + low SR = greenwashing signal</a:t>
            </a:r>
            <a:endParaRPr lang="en-US" sz="1000" dirty="0"/>
          </a:p>
          <a:p>
            <a:pPr marL="342900" indent="-342900">
              <a:buSzPct val="100000"/>
              <a:buChar char="•"/>
            </a:pPr>
            <a:r>
              <a:rPr lang="en-US" sz="1000" dirty="0">
                <a:solidFill>
                  <a:srgbClr val="2D3F51"/>
                </a:solidFill>
                <a:latin typeface="Calibri" pitchFamily="34" charset="0"/>
                <a:ea typeface="Calibri" pitchFamily="34" charset="-122"/>
                <a:cs typeface="Calibri" pitchFamily="34" charset="-120"/>
              </a:rPr>
              <a:t>High positive FinBERT + high SR = credible positive disclosure</a:t>
            </a:r>
            <a:endParaRPr lang="en-US" sz="1000" dirty="0"/>
          </a:p>
          <a:p>
            <a:pPr marL="342900" indent="-342900">
              <a:buSzPct val="100000"/>
              <a:buChar char="•"/>
            </a:pPr>
            <a:r>
              <a:rPr lang="en-US" sz="1000" dirty="0">
                <a:solidFill>
                  <a:srgbClr val="2D3F51"/>
                </a:solidFill>
                <a:latin typeface="Calibri" pitchFamily="34" charset="0"/>
                <a:ea typeface="Calibri" pitchFamily="34" charset="-122"/>
                <a:cs typeface="Calibri" pitchFamily="34" charset="-120"/>
              </a:rPr>
              <a:t>Cannot run in main environment (Hugging Face blocked)</a:t>
            </a:r>
            <a:endParaRPr lang="en-US" sz="1000" dirty="0"/>
          </a:p>
          <a:p>
            <a:pPr marL="342900" indent="-342900">
              <a:buSzPct val="100000"/>
              <a:buChar char="•"/>
            </a:pPr>
            <a:r>
              <a:rPr lang="en-US" sz="1000" dirty="0">
                <a:solidFill>
                  <a:srgbClr val="2D3F51"/>
                </a:solidFill>
                <a:latin typeface="Calibri" pitchFamily="34" charset="0"/>
                <a:ea typeface="Calibri" pitchFamily="34" charset="-122"/>
                <a:cs typeface="Calibri" pitchFamily="34" charset="-120"/>
              </a:rPr>
              <a:t>Full 10-cell notebook: notebooks/FinBERT_Colab.ipynb</a:t>
            </a:r>
            <a:endParaRPr lang="en-US" sz="1000" dirty="0"/>
          </a:p>
          <a:p>
            <a:pPr marL="342900" indent="-342900">
              <a:buSzPct val="100000"/>
              <a:buChar char="•"/>
            </a:pPr>
            <a:r>
              <a:rPr lang="en-US" sz="1000" dirty="0">
                <a:solidFill>
                  <a:srgbClr val="2D3F51"/>
                </a:solidFill>
                <a:latin typeface="Calibri" pitchFamily="34" charset="0"/>
                <a:ea typeface="Calibri" pitchFamily="34" charset="-122"/>
                <a:cs typeface="Calibri" pitchFamily="34" charset="-120"/>
              </a:rPr>
              <a:t>Upload corpus, run all cells, merge with nlp_results.csv</a:t>
            </a:r>
            <a:endParaRPr lang="en-US" sz="1000" dirty="0"/>
          </a:p>
        </p:txBody>
      </p:sp>
      <p:sp>
        <p:nvSpPr>
          <p:cNvPr id="9" name="Shape 6"/>
          <p:cNvSpPr/>
          <p:nvPr/>
        </p:nvSpPr>
        <p:spPr>
          <a:xfrm>
            <a:off x="4709160" y="960120"/>
            <a:ext cx="4114800" cy="3794760"/>
          </a:xfrm>
          <a:prstGeom prst="rect">
            <a:avLst>
              <a:gd name="adj" fmla="val 1446"/>
            </a:avLst>
          </a:prstGeom>
          <a:solidFill>
            <a:srgbClr val="F0F4F8"/>
          </a:solidFill>
          <a:ln w="6350">
            <a:solidFill>
              <a:srgbClr val="E2EBF3"/>
            </a:solidFill>
            <a:prstDash val="solid"/>
          </a:ln>
          <a:effectLst>
            <a:outerShdw sx="100000" sy="100000" kx="0" ky="0" algn="bl" rotWithShape="0" blurRad="127000" dist="38100" dir="2700000">
              <a:srgbClr val="000000">
                <a:alpha val="10000"/>
              </a:srgbClr>
            </a:outerShdw>
          </a:effectLst>
        </p:spPr>
      </p:sp>
      <p:pic>
        <p:nvPicPr>
          <p:cNvPr id="10" name="Image 1" descr="preencoded.png">    </p:cNvPr>
          <p:cNvPicPr>
            <a:picLocks noChangeAspect="1"/>
          </p:cNvPicPr>
          <p:nvPr/>
        </p:nvPicPr>
        <p:blipFill>
          <a:blip r:embed="rId2"/>
          <a:stretch>
            <a:fillRect/>
          </a:stretch>
        </p:blipFill>
        <p:spPr>
          <a:xfrm>
            <a:off x="4892040" y="1115568"/>
            <a:ext cx="502920" cy="502920"/>
          </a:xfrm>
          <a:prstGeom prst="rect">
            <a:avLst/>
          </a:prstGeom>
        </p:spPr>
      </p:pic>
      <p:sp>
        <p:nvSpPr>
          <p:cNvPr id="11" name="Text 7"/>
          <p:cNvSpPr/>
          <p:nvPr/>
        </p:nvSpPr>
        <p:spPr>
          <a:xfrm>
            <a:off x="5486400" y="1143000"/>
            <a:ext cx="3246120" cy="384048"/>
          </a:xfrm>
          <a:prstGeom prst="rect">
            <a:avLst/>
          </a:prstGeom>
          <a:noFill/>
          <a:ln/>
        </p:spPr>
        <p:txBody>
          <a:bodyPr wrap="square" lIns="0" tIns="0" rIns="0" bIns="0" rtlCol="0" anchor="ctr"/>
          <a:lstStyle/>
          <a:p>
            <a:pPr indent="0" marL="0">
              <a:buNone/>
            </a:pPr>
            <a:r>
              <a:rPr lang="en-US" sz="1300" b="1" dirty="0">
                <a:solidFill>
                  <a:srgbClr val="2D3F51"/>
                </a:solidFill>
                <a:latin typeface="Cambria" pitchFamily="34" charset="0"/>
                <a:ea typeface="Cambria" pitchFamily="34" charset="-122"/>
                <a:cs typeface="Cambria" pitchFamily="34" charset="-120"/>
              </a:rPr>
              <a:t>SQL Analytics Layer (SQLite/PostgreSQL)</a:t>
            </a:r>
            <a:endParaRPr lang="en-US" sz="1300" dirty="0"/>
          </a:p>
        </p:txBody>
      </p:sp>
      <p:sp>
        <p:nvSpPr>
          <p:cNvPr id="12" name="Text 8"/>
          <p:cNvSpPr/>
          <p:nvPr/>
        </p:nvSpPr>
        <p:spPr>
          <a:xfrm>
            <a:off x="4846320" y="1627632"/>
            <a:ext cx="3840480" cy="2971800"/>
          </a:xfrm>
          <a:prstGeom prst="rect">
            <a:avLst/>
          </a:prstGeom>
          <a:noFill/>
          <a:ln/>
        </p:spPr>
        <p:txBody>
          <a:bodyPr wrap="square" lIns="76200" tIns="76200" rIns="76200" bIns="76200" rtlCol="0" anchor="ctr"/>
          <a:lstStyle/>
          <a:p>
            <a:pPr marL="342900" indent="-342900">
              <a:buSzPct val="100000"/>
              <a:buChar char="•"/>
            </a:pPr>
            <a:r>
              <a:rPr lang="en-US" sz="1000" dirty="0">
                <a:solidFill>
                  <a:srgbClr val="2D3F51"/>
                </a:solidFill>
                <a:latin typeface="Calibri" pitchFamily="34" charset="0"/>
                <a:ea typeface="Calibri" pitchFamily="34" charset="-122"/>
                <a:cs typeface="Calibri" pitchFamily="34" charset="-120"/>
              </a:rPr>
              <a:t>Normalised schema: companies + nlp_metrics + lda tables</a:t>
            </a:r>
            <a:endParaRPr lang="en-US" sz="1000" dirty="0"/>
          </a:p>
          <a:p>
            <a:pPr marL="342900" indent="-342900">
              <a:buSzPct val="100000"/>
              <a:buChar char="•"/>
            </a:pPr>
            <a:r>
              <a:rPr lang="en-US" sz="1000" dirty="0">
                <a:solidFill>
                  <a:srgbClr val="2D3F51"/>
                </a:solidFill>
                <a:latin typeface="Calibri" pitchFamily="34" charset="0"/>
                <a:ea typeface="Calibri" pitchFamily="34" charset="-122"/>
                <a:cs typeface="Calibri" pitchFamily="34" charset="-120"/>
              </a:rPr>
              <a:t>9 verified analysis queries, all produce correct output</a:t>
            </a:r>
            <a:endParaRPr lang="en-US" sz="1000" dirty="0"/>
          </a:p>
          <a:p>
            <a:pPr marL="342900" indent="-342900">
              <a:buSzPct val="100000"/>
              <a:buChar char="•"/>
            </a:pPr>
            <a:r>
              <a:rPr lang="en-US" sz="1000" dirty="0">
                <a:solidFill>
                  <a:srgbClr val="2D3F51"/>
                </a:solidFill>
                <a:latin typeface="Calibri" pitchFamily="34" charset="0"/>
                <a:ea typeface="Calibri" pitchFamily="34" charset="-122"/>
                <a:cs typeface="Calibri" pitchFamily="34" charset="-120"/>
              </a:rPr>
              <a:t>Sector averages — manufacturing vs. service sectors</a:t>
            </a:r>
            <a:endParaRPr lang="en-US" sz="1000" dirty="0"/>
          </a:p>
          <a:p>
            <a:pPr marL="342900" indent="-342900">
              <a:buSzPct val="100000"/>
              <a:buChar char="•"/>
            </a:pPr>
            <a:r>
              <a:rPr lang="en-US" sz="1000" dirty="0">
                <a:solidFill>
                  <a:srgbClr val="2D3F51"/>
                </a:solidFill>
                <a:latin typeface="Calibri" pitchFamily="34" charset="0"/>
                <a:ea typeface="Calibri" pitchFamily="34" charset="-122"/>
                <a:cs typeface="Calibri" pitchFamily="34" charset="-120"/>
              </a:rPr>
              <a:t>Assurance type vs. disclosure specificity</a:t>
            </a:r>
            <a:endParaRPr lang="en-US" sz="1000" dirty="0"/>
          </a:p>
          <a:p>
            <a:pPr marL="342900" indent="-342900">
              <a:buSzPct val="100000"/>
              <a:buChar char="•"/>
            </a:pPr>
            <a:r>
              <a:rPr lang="en-US" sz="1000" dirty="0">
                <a:solidFill>
                  <a:srgbClr val="2D3F51"/>
                </a:solidFill>
                <a:latin typeface="Calibri" pitchFamily="34" charset="0"/>
                <a:ea typeface="Calibri" pitchFamily="34" charset="-122"/>
                <a:cs typeface="Calibri" pitchFamily="34" charset="-120"/>
              </a:rPr>
              <a:t>NYSE cross-listing premium analysis</a:t>
            </a:r>
            <a:endParaRPr lang="en-US" sz="1000" dirty="0"/>
          </a:p>
          <a:p>
            <a:pPr marL="342900" indent="-342900">
              <a:buSzPct val="100000"/>
              <a:buChar char="•"/>
            </a:pPr>
            <a:r>
              <a:rPr lang="en-US" sz="1000" dirty="0">
                <a:solidFill>
                  <a:srgbClr val="2D3F51"/>
                </a:solidFill>
                <a:latin typeface="Calibri" pitchFamily="34" charset="0"/>
                <a:ea typeface="Calibri" pitchFamily="34" charset="-122"/>
                <a:cs typeface="Calibri" pitchFamily="34" charset="-120"/>
              </a:rPr>
              <a:t>Sensitivity analysis — SR needed to exit HIGH tier</a:t>
            </a:r>
            <a:endParaRPr lang="en-US" sz="1000" dirty="0"/>
          </a:p>
          <a:p>
            <a:pPr marL="342900" indent="-342900">
              <a:buSzPct val="100000"/>
              <a:buChar char="•"/>
            </a:pPr>
            <a:r>
              <a:rPr lang="en-US" sz="1000" dirty="0">
                <a:solidFill>
                  <a:srgbClr val="2D3F51"/>
                </a:solidFill>
                <a:latin typeface="Calibri" pitchFamily="34" charset="0"/>
                <a:ea typeface="Calibri" pitchFamily="34" charset="-122"/>
                <a:cs typeface="Calibri" pitchFamily="34" charset="-120"/>
              </a:rPr>
              <a:t>AVVR=0 flag — identifies purely aspirational filers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2137"/>
          </a:solidFill>
          <a:ln/>
        </p:spPr>
      </p:sp>
      <p:sp>
        <p:nvSpPr>
          <p:cNvPr id="3" name="Text 1"/>
          <p:cNvSpPr/>
          <p:nvPr/>
        </p:nvSpPr>
        <p:spPr>
          <a:xfrm>
            <a:off x="365760" y="0"/>
            <a:ext cx="7315200" cy="7772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Honest Limitations — What This Analysis Can and Cannot Conclude</a:t>
            </a:r>
            <a:endParaRPr lang="en-US" sz="2200" dirty="0"/>
          </a:p>
        </p:txBody>
      </p:sp>
      <p:sp>
        <p:nvSpPr>
          <p:cNvPr id="4" name="Text 2"/>
          <p:cNvSpPr/>
          <p:nvPr/>
        </p:nvSpPr>
        <p:spPr>
          <a:xfrm>
            <a:off x="274320" y="4892040"/>
            <a:ext cx="8595360" cy="182880"/>
          </a:xfrm>
          <a:prstGeom prst="rect">
            <a:avLst/>
          </a:prstGeom>
          <a:noFill/>
          <a:ln/>
        </p:spPr>
        <p:txBody>
          <a:bodyPr wrap="square" lIns="0" tIns="0" rIns="0" bIns="0" rtlCol="0" anchor="ctr"/>
          <a:lstStyle/>
          <a:p>
            <a:pPr algn="ctr" indent="0" marL="0">
              <a:buNone/>
            </a:pPr>
            <a:r>
              <a:rPr lang="en-US" sz="700" dirty="0">
                <a:solidFill>
                  <a:srgbClr val="7B9BB8"/>
                </a:solidFill>
                <a:latin typeface="Calibri" pitchFamily="34" charset="0"/>
                <a:ea typeface="Calibri" pitchFamily="34" charset="-122"/>
                <a:cs typeface="Calibri" pitchFamily="34" charset="-120"/>
              </a:rPr>
              <a:t>BRSR Greenwashing Risk Screener  |  NLP Analysis, FY2022–25  |  [Your Name], June 2026</a:t>
            </a:r>
            <a:endParaRPr lang="en-US" sz="700" dirty="0"/>
          </a:p>
        </p:txBody>
      </p:sp>
      <p:sp>
        <p:nvSpPr>
          <p:cNvPr id="5" name="Shape 3"/>
          <p:cNvSpPr/>
          <p:nvPr/>
        </p:nvSpPr>
        <p:spPr>
          <a:xfrm>
            <a:off x="320040" y="960120"/>
            <a:ext cx="8503920" cy="658368"/>
          </a:xfrm>
          <a:prstGeom prst="rect">
            <a:avLst>
              <a:gd name="adj" fmla="val 8333"/>
            </a:avLst>
          </a:prstGeom>
          <a:solidFill>
            <a:srgbClr val="F0F4F8"/>
          </a:solidFill>
          <a:ln w="6350">
            <a:solidFill>
              <a:srgbClr val="E2EBF3"/>
            </a:solidFill>
            <a:prstDash val="solid"/>
          </a:ln>
          <a:effectLst>
            <a:outerShdw sx="100000" sy="100000" kx="0" ky="0" algn="bl" rotWithShape="0" blurRad="127000" dist="38100" dir="2700000">
              <a:srgbClr val="000000">
                <a:alpha val="10000"/>
              </a:srgbClr>
            </a:outerShdw>
          </a:effectLst>
        </p:spPr>
      </p:sp>
      <p:sp>
        <p:nvSpPr>
          <p:cNvPr id="6" name="Shape 4"/>
          <p:cNvSpPr/>
          <p:nvPr/>
        </p:nvSpPr>
        <p:spPr>
          <a:xfrm>
            <a:off x="411480" y="1106424"/>
            <a:ext cx="365760" cy="365760"/>
          </a:xfrm>
          <a:prstGeom prst="oval">
            <a:avLst/>
          </a:prstGeom>
          <a:solidFill>
            <a:srgbClr val="F0A500">
              <a:alpha val="70000"/>
            </a:srgbClr>
          </a:solidFill>
          <a:ln/>
        </p:spPr>
      </p:sp>
      <p:sp>
        <p:nvSpPr>
          <p:cNvPr id="7" name="Text 5"/>
          <p:cNvSpPr/>
          <p:nvPr/>
        </p:nvSpPr>
        <p:spPr>
          <a:xfrm>
            <a:off x="960120" y="1005840"/>
            <a:ext cx="7726680" cy="320040"/>
          </a:xfrm>
          <a:prstGeom prst="rect">
            <a:avLst/>
          </a:prstGeom>
          <a:noFill/>
          <a:ln/>
        </p:spPr>
        <p:txBody>
          <a:bodyPr wrap="square" lIns="0" tIns="0" rIns="0" bIns="0" rtlCol="0" anchor="b"/>
          <a:lstStyle/>
          <a:p>
            <a:pPr indent="0" marL="0">
              <a:buNone/>
            </a:pPr>
            <a:r>
              <a:rPr lang="en-US" sz="1150" b="1" dirty="0">
                <a:solidFill>
                  <a:srgbClr val="2D3F51"/>
                </a:solidFill>
                <a:latin typeface="Cambria" pitchFamily="34" charset="0"/>
                <a:ea typeface="Cambria" pitchFamily="34" charset="-122"/>
                <a:cs typeface="Cambria" pitchFamily="34" charset="-120"/>
              </a:rPr>
              <a:t>n = 15 is small</a:t>
            </a:r>
            <a:endParaRPr lang="en-US" sz="1150" dirty="0"/>
          </a:p>
        </p:txBody>
      </p:sp>
      <p:sp>
        <p:nvSpPr>
          <p:cNvPr id="8" name="Text 6"/>
          <p:cNvSpPr/>
          <p:nvPr/>
        </p:nvSpPr>
        <p:spPr>
          <a:xfrm>
            <a:off x="960120" y="1325880"/>
            <a:ext cx="7726680" cy="274320"/>
          </a:xfrm>
          <a:prstGeom prst="rect">
            <a:avLst/>
          </a:prstGeom>
          <a:noFill/>
          <a:ln/>
        </p:spPr>
        <p:txBody>
          <a:bodyPr wrap="square" lIns="0" tIns="0" rIns="0" bIns="0" rtlCol="0" anchor="t"/>
          <a:lstStyle/>
          <a:p>
            <a:pPr indent="0" marL="0">
              <a:buNone/>
            </a:pPr>
            <a:r>
              <a:rPr lang="en-US" sz="1000" dirty="0">
                <a:solidFill>
                  <a:srgbClr val="7B9BB8"/>
                </a:solidFill>
                <a:latin typeface="Calibri" pitchFamily="34" charset="0"/>
                <a:ea typeface="Calibri" pitchFamily="34" charset="-122"/>
                <a:cs typeface="Calibri" pitchFamily="34" charset="-120"/>
              </a:rPr>
              <a:t>Kruskal-Wallis p = 0.188. No sector-level finding is statistically significant. All cross-sector differences are descriptive only.</a:t>
            </a:r>
            <a:endParaRPr lang="en-US" sz="1000" dirty="0"/>
          </a:p>
        </p:txBody>
      </p:sp>
      <p:sp>
        <p:nvSpPr>
          <p:cNvPr id="9" name="Shape 7"/>
          <p:cNvSpPr/>
          <p:nvPr/>
        </p:nvSpPr>
        <p:spPr>
          <a:xfrm>
            <a:off x="320040" y="1728216"/>
            <a:ext cx="8503920" cy="658368"/>
          </a:xfrm>
          <a:prstGeom prst="rect">
            <a:avLst>
              <a:gd name="adj" fmla="val 8333"/>
            </a:avLst>
          </a:prstGeom>
          <a:solidFill>
            <a:srgbClr val="F0F4F8"/>
          </a:solidFill>
          <a:ln w="6350">
            <a:solidFill>
              <a:srgbClr val="E2EBF3"/>
            </a:solidFill>
            <a:prstDash val="solid"/>
          </a:ln>
          <a:effectLst>
            <a:outerShdw sx="100000" sy="100000" kx="0" ky="0" algn="bl" rotWithShape="0" blurRad="127000" dist="38100" dir="2700000">
              <a:srgbClr val="000000">
                <a:alpha val="10000"/>
              </a:srgbClr>
            </a:outerShdw>
          </a:effectLst>
        </p:spPr>
      </p:sp>
      <p:sp>
        <p:nvSpPr>
          <p:cNvPr id="10" name="Shape 8"/>
          <p:cNvSpPr/>
          <p:nvPr/>
        </p:nvSpPr>
        <p:spPr>
          <a:xfrm>
            <a:off x="411480" y="1874520"/>
            <a:ext cx="365760" cy="365760"/>
          </a:xfrm>
          <a:prstGeom prst="oval">
            <a:avLst/>
          </a:prstGeom>
          <a:solidFill>
            <a:srgbClr val="F0A500">
              <a:alpha val="70000"/>
            </a:srgbClr>
          </a:solidFill>
          <a:ln/>
        </p:spPr>
      </p:sp>
      <p:sp>
        <p:nvSpPr>
          <p:cNvPr id="11" name="Text 9"/>
          <p:cNvSpPr/>
          <p:nvPr/>
        </p:nvSpPr>
        <p:spPr>
          <a:xfrm>
            <a:off x="960120" y="1773936"/>
            <a:ext cx="7726680" cy="320040"/>
          </a:xfrm>
          <a:prstGeom prst="rect">
            <a:avLst/>
          </a:prstGeom>
          <a:noFill/>
          <a:ln/>
        </p:spPr>
        <p:txBody>
          <a:bodyPr wrap="square" lIns="0" tIns="0" rIns="0" bIns="0" rtlCol="0" anchor="b"/>
          <a:lstStyle/>
          <a:p>
            <a:pPr indent="0" marL="0">
              <a:buNone/>
            </a:pPr>
            <a:r>
              <a:rPr lang="en-US" sz="1150" b="1" dirty="0">
                <a:solidFill>
                  <a:srgbClr val="2D3F51"/>
                </a:solidFill>
                <a:latin typeface="Cambria" pitchFamily="34" charset="0"/>
                <a:ea typeface="Cambria" pitchFamily="34" charset="-122"/>
                <a:cs typeface="Cambria" pitchFamily="34" charset="-120"/>
              </a:rPr>
              <a:t>8 of 15 reports use structured extracts</a:t>
            </a:r>
            <a:endParaRPr lang="en-US" sz="1150" dirty="0"/>
          </a:p>
        </p:txBody>
      </p:sp>
      <p:sp>
        <p:nvSpPr>
          <p:cNvPr id="12" name="Text 10"/>
          <p:cNvSpPr/>
          <p:nvPr/>
        </p:nvSpPr>
        <p:spPr>
          <a:xfrm>
            <a:off x="960120" y="2093976"/>
            <a:ext cx="7726680" cy="274320"/>
          </a:xfrm>
          <a:prstGeom prst="rect">
            <a:avLst/>
          </a:prstGeom>
          <a:noFill/>
          <a:ln/>
        </p:spPr>
        <p:txBody>
          <a:bodyPr wrap="square" lIns="0" tIns="0" rIns="0" bIns="0" rtlCol="0" anchor="t"/>
          <a:lstStyle/>
          <a:p>
            <a:pPr indent="0" marL="0">
              <a:buNone/>
            </a:pPr>
            <a:r>
              <a:rPr lang="en-US" sz="1000" dirty="0">
                <a:solidFill>
                  <a:srgbClr val="7B9BB8"/>
                </a:solidFill>
                <a:latin typeface="Calibri" pitchFamily="34" charset="0"/>
                <a:ea typeface="Calibri" pitchFamily="34" charset="-122"/>
                <a:cs typeface="Calibri" pitchFamily="34" charset="-120"/>
              </a:rPr>
              <a:t>Not full-PDF text — domain-level robots.txt blocks prevented direct fetching. SR scores for these 8 are likely underestimates.</a:t>
            </a:r>
            <a:endParaRPr lang="en-US" sz="1000" dirty="0"/>
          </a:p>
        </p:txBody>
      </p:sp>
      <p:sp>
        <p:nvSpPr>
          <p:cNvPr id="13" name="Shape 11"/>
          <p:cNvSpPr/>
          <p:nvPr/>
        </p:nvSpPr>
        <p:spPr>
          <a:xfrm>
            <a:off x="320040" y="2496312"/>
            <a:ext cx="8503920" cy="658368"/>
          </a:xfrm>
          <a:prstGeom prst="rect">
            <a:avLst>
              <a:gd name="adj" fmla="val 8333"/>
            </a:avLst>
          </a:prstGeom>
          <a:solidFill>
            <a:srgbClr val="F0F4F8"/>
          </a:solidFill>
          <a:ln w="6350">
            <a:solidFill>
              <a:srgbClr val="E2EBF3"/>
            </a:solidFill>
            <a:prstDash val="solid"/>
          </a:ln>
          <a:effectLst>
            <a:outerShdw sx="100000" sy="100000" kx="0" ky="0" algn="bl" rotWithShape="0" blurRad="127000" dist="38100" dir="2700000">
              <a:srgbClr val="000000">
                <a:alpha val="10000"/>
              </a:srgbClr>
            </a:outerShdw>
          </a:effectLst>
        </p:spPr>
      </p:sp>
      <p:sp>
        <p:nvSpPr>
          <p:cNvPr id="14" name="Shape 12"/>
          <p:cNvSpPr/>
          <p:nvPr/>
        </p:nvSpPr>
        <p:spPr>
          <a:xfrm>
            <a:off x="411480" y="2642616"/>
            <a:ext cx="365760" cy="365760"/>
          </a:xfrm>
          <a:prstGeom prst="oval">
            <a:avLst/>
          </a:prstGeom>
          <a:solidFill>
            <a:srgbClr val="F0A500">
              <a:alpha val="70000"/>
            </a:srgbClr>
          </a:solidFill>
          <a:ln/>
        </p:spPr>
      </p:sp>
      <p:sp>
        <p:nvSpPr>
          <p:cNvPr id="15" name="Text 13"/>
          <p:cNvSpPr/>
          <p:nvPr/>
        </p:nvSpPr>
        <p:spPr>
          <a:xfrm>
            <a:off x="960120" y="2542032"/>
            <a:ext cx="7726680" cy="320040"/>
          </a:xfrm>
          <a:prstGeom prst="rect">
            <a:avLst/>
          </a:prstGeom>
          <a:noFill/>
          <a:ln/>
        </p:spPr>
        <p:txBody>
          <a:bodyPr wrap="square" lIns="0" tIns="0" rIns="0" bIns="0" rtlCol="0" anchor="b"/>
          <a:lstStyle/>
          <a:p>
            <a:pPr indent="0" marL="0">
              <a:buNone/>
            </a:pPr>
            <a:r>
              <a:rPr lang="en-US" sz="1150" b="1" dirty="0">
                <a:solidFill>
                  <a:srgbClr val="2D3F51"/>
                </a:solidFill>
                <a:latin typeface="Cambria" pitchFamily="34" charset="0"/>
                <a:ea typeface="Cambria" pitchFamily="34" charset="-122"/>
                <a:cs typeface="Cambria" pitchFamily="34" charset="-120"/>
              </a:rPr>
              <a:t>GRS weights are theoretically motivated</a:t>
            </a:r>
            <a:endParaRPr lang="en-US" sz="1150" dirty="0"/>
          </a:p>
        </p:txBody>
      </p:sp>
      <p:sp>
        <p:nvSpPr>
          <p:cNvPr id="16" name="Text 14"/>
          <p:cNvSpPr/>
          <p:nvPr/>
        </p:nvSpPr>
        <p:spPr>
          <a:xfrm>
            <a:off x="960120" y="2862072"/>
            <a:ext cx="7726680" cy="274320"/>
          </a:xfrm>
          <a:prstGeom prst="rect">
            <a:avLst/>
          </a:prstGeom>
          <a:noFill/>
          <a:ln/>
        </p:spPr>
        <p:txBody>
          <a:bodyPr wrap="square" lIns="0" tIns="0" rIns="0" bIns="0" rtlCol="0" anchor="t"/>
          <a:lstStyle/>
          <a:p>
            <a:pPr indent="0" marL="0">
              <a:buNone/>
            </a:pPr>
            <a:r>
              <a:rPr lang="en-US" sz="1000" dirty="0">
                <a:solidFill>
                  <a:srgbClr val="7B9BB8"/>
                </a:solidFill>
                <a:latin typeface="Calibri" pitchFamily="34" charset="0"/>
                <a:ea typeface="Calibri" pitchFamily="34" charset="-122"/>
                <a:cs typeface="Calibri" pitchFamily="34" charset="-120"/>
              </a:rPr>
              <a:t>Not fitted to labelled data. No publicly available BRSR greenwashing training dataset exists. Empirical weight optimisation is future work.</a:t>
            </a:r>
            <a:endParaRPr lang="en-US" sz="1000" dirty="0"/>
          </a:p>
        </p:txBody>
      </p:sp>
      <p:sp>
        <p:nvSpPr>
          <p:cNvPr id="17" name="Shape 15"/>
          <p:cNvSpPr/>
          <p:nvPr/>
        </p:nvSpPr>
        <p:spPr>
          <a:xfrm>
            <a:off x="320040" y="3264408"/>
            <a:ext cx="8503920" cy="658368"/>
          </a:xfrm>
          <a:prstGeom prst="rect">
            <a:avLst>
              <a:gd name="adj" fmla="val 8333"/>
            </a:avLst>
          </a:prstGeom>
          <a:solidFill>
            <a:srgbClr val="F0F4F8"/>
          </a:solidFill>
          <a:ln w="6350">
            <a:solidFill>
              <a:srgbClr val="E2EBF3"/>
            </a:solidFill>
            <a:prstDash val="solid"/>
          </a:ln>
          <a:effectLst>
            <a:outerShdw sx="100000" sy="100000" kx="0" ky="0" algn="bl" rotWithShape="0" blurRad="127000" dist="38100" dir="2700000">
              <a:srgbClr val="000000">
                <a:alpha val="10000"/>
              </a:srgbClr>
            </a:outerShdw>
          </a:effectLst>
        </p:spPr>
      </p:sp>
      <p:sp>
        <p:nvSpPr>
          <p:cNvPr id="18" name="Shape 16"/>
          <p:cNvSpPr/>
          <p:nvPr/>
        </p:nvSpPr>
        <p:spPr>
          <a:xfrm>
            <a:off x="411480" y="3410712"/>
            <a:ext cx="365760" cy="365760"/>
          </a:xfrm>
          <a:prstGeom prst="oval">
            <a:avLst/>
          </a:prstGeom>
          <a:solidFill>
            <a:srgbClr val="E5534B">
              <a:alpha val="70000"/>
            </a:srgbClr>
          </a:solidFill>
          <a:ln/>
        </p:spPr>
      </p:sp>
      <p:sp>
        <p:nvSpPr>
          <p:cNvPr id="19" name="Text 17"/>
          <p:cNvSpPr/>
          <p:nvPr/>
        </p:nvSpPr>
        <p:spPr>
          <a:xfrm>
            <a:off x="960120" y="3310128"/>
            <a:ext cx="7726680" cy="320040"/>
          </a:xfrm>
          <a:prstGeom prst="rect">
            <a:avLst/>
          </a:prstGeom>
          <a:noFill/>
          <a:ln/>
        </p:spPr>
        <p:txBody>
          <a:bodyPr wrap="square" lIns="0" tIns="0" rIns="0" bIns="0" rtlCol="0" anchor="b"/>
          <a:lstStyle/>
          <a:p>
            <a:pPr indent="0" marL="0">
              <a:buNone/>
            </a:pPr>
            <a:r>
              <a:rPr lang="en-US" sz="1150" b="1" dirty="0">
                <a:solidFill>
                  <a:srgbClr val="2D3F51"/>
                </a:solidFill>
                <a:latin typeface="Cambria" pitchFamily="34" charset="0"/>
                <a:ea typeface="Cambria" pitchFamily="34" charset="-122"/>
                <a:cs typeface="Cambria" pitchFamily="34" charset="-120"/>
              </a:rPr>
              <a:t>GRS ≠ actual greenwashing</a:t>
            </a:r>
            <a:endParaRPr lang="en-US" sz="1150" dirty="0"/>
          </a:p>
        </p:txBody>
      </p:sp>
      <p:sp>
        <p:nvSpPr>
          <p:cNvPr id="20" name="Text 18"/>
          <p:cNvSpPr/>
          <p:nvPr/>
        </p:nvSpPr>
        <p:spPr>
          <a:xfrm>
            <a:off x="960120" y="3630168"/>
            <a:ext cx="7726680" cy="274320"/>
          </a:xfrm>
          <a:prstGeom prst="rect">
            <a:avLst/>
          </a:prstGeom>
          <a:noFill/>
          <a:ln/>
        </p:spPr>
        <p:txBody>
          <a:bodyPr wrap="square" lIns="0" tIns="0" rIns="0" bIns="0" rtlCol="0" anchor="t"/>
          <a:lstStyle/>
          <a:p>
            <a:pPr indent="0" marL="0">
              <a:buNone/>
            </a:pPr>
            <a:r>
              <a:rPr lang="en-US" sz="1000" dirty="0">
                <a:solidFill>
                  <a:srgbClr val="7B9BB8"/>
                </a:solidFill>
                <a:latin typeface="Calibri" pitchFamily="34" charset="0"/>
                <a:ea typeface="Calibri" pitchFamily="34" charset="-122"/>
                <a:cs typeface="Calibri" pitchFamily="34" charset="-120"/>
              </a:rPr>
              <a:t>The pipeline measures textual credibility risk, not performance vs. claims. Matched environmental performance data (e.g. CDP) is required for that.</a:t>
            </a:r>
            <a:endParaRPr lang="en-US" sz="1000" dirty="0"/>
          </a:p>
        </p:txBody>
      </p:sp>
      <p:sp>
        <p:nvSpPr>
          <p:cNvPr id="21" name="Shape 19"/>
          <p:cNvSpPr/>
          <p:nvPr/>
        </p:nvSpPr>
        <p:spPr>
          <a:xfrm>
            <a:off x="320040" y="4032504"/>
            <a:ext cx="8503920" cy="658368"/>
          </a:xfrm>
          <a:prstGeom prst="rect">
            <a:avLst>
              <a:gd name="adj" fmla="val 8333"/>
            </a:avLst>
          </a:prstGeom>
          <a:solidFill>
            <a:srgbClr val="F0F4F8"/>
          </a:solidFill>
          <a:ln w="6350">
            <a:solidFill>
              <a:srgbClr val="E2EBF3"/>
            </a:solidFill>
            <a:prstDash val="solid"/>
          </a:ln>
          <a:effectLst>
            <a:outerShdw sx="100000" sy="100000" kx="0" ky="0" algn="bl" rotWithShape="0" blurRad="127000" dist="38100" dir="2700000">
              <a:srgbClr val="000000">
                <a:alpha val="10000"/>
              </a:srgbClr>
            </a:outerShdw>
          </a:effectLst>
        </p:spPr>
      </p:sp>
      <p:sp>
        <p:nvSpPr>
          <p:cNvPr id="22" name="Shape 20"/>
          <p:cNvSpPr/>
          <p:nvPr/>
        </p:nvSpPr>
        <p:spPr>
          <a:xfrm>
            <a:off x="411480" y="4178808"/>
            <a:ext cx="365760" cy="365760"/>
          </a:xfrm>
          <a:prstGeom prst="oval">
            <a:avLst/>
          </a:prstGeom>
          <a:solidFill>
            <a:srgbClr val="7B9BB8">
              <a:alpha val="70000"/>
            </a:srgbClr>
          </a:solidFill>
          <a:ln/>
        </p:spPr>
      </p:sp>
      <p:sp>
        <p:nvSpPr>
          <p:cNvPr id="23" name="Text 21"/>
          <p:cNvSpPr/>
          <p:nvPr/>
        </p:nvSpPr>
        <p:spPr>
          <a:xfrm>
            <a:off x="960120" y="4078224"/>
            <a:ext cx="7726680" cy="320040"/>
          </a:xfrm>
          <a:prstGeom prst="rect">
            <a:avLst/>
          </a:prstGeom>
          <a:noFill/>
          <a:ln/>
        </p:spPr>
        <p:txBody>
          <a:bodyPr wrap="square" lIns="0" tIns="0" rIns="0" bIns="0" rtlCol="0" anchor="b"/>
          <a:lstStyle/>
          <a:p>
            <a:pPr indent="0" marL="0">
              <a:buNone/>
            </a:pPr>
            <a:r>
              <a:rPr lang="en-US" sz="1150" b="1" dirty="0">
                <a:solidFill>
                  <a:srgbClr val="2D3F51"/>
                </a:solidFill>
                <a:latin typeface="Cambria" pitchFamily="34" charset="0"/>
                <a:ea typeface="Cambria" pitchFamily="34" charset="-122"/>
                <a:cs typeface="Cambria" pitchFamily="34" charset="-120"/>
              </a:rPr>
              <a:t>FinBERT not run on full corpus</a:t>
            </a:r>
            <a:endParaRPr lang="en-US" sz="1150" dirty="0"/>
          </a:p>
        </p:txBody>
      </p:sp>
      <p:sp>
        <p:nvSpPr>
          <p:cNvPr id="24" name="Text 22"/>
          <p:cNvSpPr/>
          <p:nvPr/>
        </p:nvSpPr>
        <p:spPr>
          <a:xfrm>
            <a:off x="960120" y="4398264"/>
            <a:ext cx="7726680" cy="274320"/>
          </a:xfrm>
          <a:prstGeom prst="rect">
            <a:avLst/>
          </a:prstGeom>
          <a:noFill/>
          <a:ln/>
        </p:spPr>
        <p:txBody>
          <a:bodyPr wrap="square" lIns="0" tIns="0" rIns="0" bIns="0" rtlCol="0" anchor="t"/>
          <a:lstStyle/>
          <a:p>
            <a:pPr indent="0" marL="0">
              <a:buNone/>
            </a:pPr>
            <a:r>
              <a:rPr lang="en-US" sz="1000" dirty="0">
                <a:solidFill>
                  <a:srgbClr val="7B9BB8"/>
                </a:solidFill>
                <a:latin typeface="Calibri" pitchFamily="34" charset="0"/>
                <a:ea typeface="Calibri" pitchFamily="34" charset="-122"/>
                <a:cs typeface="Calibri" pitchFamily="34" charset="-120"/>
              </a:rPr>
              <a:t>Network access limitations prevented live model download. Colab notebook is provided and fully functional.</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2137"/>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06D6A0"/>
                </a:solidFill>
                <a:latin typeface="Cambria" pitchFamily="34" charset="0"/>
                <a:ea typeface="Cambria" pitchFamily="34" charset="-122"/>
                <a:cs typeface="Cambria" pitchFamily="34" charset="-120"/>
              </a:rPr>
              <a:t>So What?</a:t>
            </a:r>
            <a:endParaRPr lang="en-US" sz="2800" dirty="0"/>
          </a:p>
        </p:txBody>
      </p:sp>
      <p:sp>
        <p:nvSpPr>
          <p:cNvPr id="3" name="Text 1"/>
          <p:cNvSpPr/>
          <p:nvPr/>
        </p:nvSpPr>
        <p:spPr>
          <a:xfrm>
            <a:off x="457200" y="822960"/>
            <a:ext cx="8229600" cy="320040"/>
          </a:xfrm>
          <a:prstGeom prst="rect">
            <a:avLst/>
          </a:prstGeom>
          <a:noFill/>
          <a:ln/>
        </p:spPr>
        <p:txBody>
          <a:bodyPr wrap="square" lIns="0" tIns="0" rIns="0" bIns="0" rtlCol="0" anchor="ctr"/>
          <a:lstStyle/>
          <a:p>
            <a:pPr indent="0" marL="0">
              <a:buNone/>
            </a:pPr>
            <a:r>
              <a:rPr lang="en-US" sz="1400" dirty="0">
                <a:solidFill>
                  <a:srgbClr val="7B9BB8"/>
                </a:solidFill>
                <a:latin typeface="Calibri" pitchFamily="34" charset="0"/>
                <a:ea typeface="Calibri" pitchFamily="34" charset="-122"/>
                <a:cs typeface="Calibri" pitchFamily="34" charset="-120"/>
              </a:rPr>
              <a:t>And what comes next.</a:t>
            </a:r>
            <a:endParaRPr lang="en-US" sz="1400" dirty="0"/>
          </a:p>
        </p:txBody>
      </p:sp>
      <p:sp>
        <p:nvSpPr>
          <p:cNvPr id="4" name="Shape 2"/>
          <p:cNvSpPr/>
          <p:nvPr/>
        </p:nvSpPr>
        <p:spPr>
          <a:xfrm>
            <a:off x="320040" y="1261872"/>
            <a:ext cx="8503920" cy="685800"/>
          </a:xfrm>
          <a:prstGeom prst="rect">
            <a:avLst>
              <a:gd name="adj" fmla="val 8000"/>
            </a:avLst>
          </a:prstGeom>
          <a:solidFill>
            <a:srgbClr val="162D4A"/>
          </a:solidFill>
          <a:ln/>
          <a:effectLst>
            <a:outerShdw sx="100000" sy="100000" kx="0" ky="0" algn="bl" rotWithShape="0" blurRad="127000" dist="38100" dir="2700000">
              <a:srgbClr val="000000">
                <a:alpha val="10000"/>
              </a:srgbClr>
            </a:outerShdw>
          </a:effectLst>
        </p:spPr>
      </p:sp>
      <p:sp>
        <p:nvSpPr>
          <p:cNvPr id="5" name="Text 3"/>
          <p:cNvSpPr/>
          <p:nvPr/>
        </p:nvSpPr>
        <p:spPr>
          <a:xfrm>
            <a:off x="502920" y="1316736"/>
            <a:ext cx="1645920" cy="320040"/>
          </a:xfrm>
          <a:prstGeom prst="rect">
            <a:avLst/>
          </a:prstGeom>
          <a:noFill/>
          <a:ln/>
        </p:spPr>
        <p:txBody>
          <a:bodyPr wrap="square" lIns="0" tIns="0" rIns="0" bIns="0" rtlCol="0" anchor="b"/>
          <a:lstStyle/>
          <a:p>
            <a:pPr indent="0" marL="0">
              <a:buNone/>
            </a:pPr>
            <a:r>
              <a:rPr lang="en-US" sz="1100" b="1" dirty="0">
                <a:solidFill>
                  <a:srgbClr val="06D6A0"/>
                </a:solidFill>
                <a:latin typeface="Cambria" pitchFamily="34" charset="0"/>
                <a:ea typeface="Cambria" pitchFamily="34" charset="-122"/>
                <a:cs typeface="Cambria" pitchFamily="34" charset="-120"/>
              </a:rPr>
              <a:t>Investors</a:t>
            </a:r>
            <a:endParaRPr lang="en-US" sz="1100" dirty="0"/>
          </a:p>
        </p:txBody>
      </p:sp>
      <p:sp>
        <p:nvSpPr>
          <p:cNvPr id="6" name="Text 4"/>
          <p:cNvSpPr/>
          <p:nvPr/>
        </p:nvSpPr>
        <p:spPr>
          <a:xfrm>
            <a:off x="502920" y="1609344"/>
            <a:ext cx="8229600" cy="292608"/>
          </a:xfrm>
          <a:prstGeom prst="rect">
            <a:avLst/>
          </a:prstGeom>
          <a:noFill/>
          <a:ln/>
        </p:spPr>
        <p:txBody>
          <a:bodyPr wrap="square" lIns="0" tIns="0" rIns="0" bIns="0" rtlCol="0" anchor="t"/>
          <a:lstStyle/>
          <a:p>
            <a:pPr indent="0" marL="0">
              <a:buNone/>
            </a:pPr>
            <a:r>
              <a:rPr lang="en-US" sz="1000" dirty="0">
                <a:solidFill>
                  <a:srgbClr val="F0F4F8"/>
                </a:solidFill>
                <a:latin typeface="Calibri" pitchFamily="34" charset="0"/>
                <a:ea typeface="Calibri" pitchFamily="34" charset="-122"/>
                <a:cs typeface="Calibri" pitchFamily="34" charset="-120"/>
              </a:rPr>
              <a:t>Use Specificity Ratio as a fast-filter screening layer before reading full BRSR reports. Flag SR &lt; 0.05 for deeper review.</a:t>
            </a:r>
            <a:endParaRPr lang="en-US" sz="1000" dirty="0"/>
          </a:p>
        </p:txBody>
      </p:sp>
      <p:sp>
        <p:nvSpPr>
          <p:cNvPr id="7" name="Shape 5"/>
          <p:cNvSpPr/>
          <p:nvPr/>
        </p:nvSpPr>
        <p:spPr>
          <a:xfrm>
            <a:off x="320040" y="2066544"/>
            <a:ext cx="8503920" cy="685800"/>
          </a:xfrm>
          <a:prstGeom prst="rect">
            <a:avLst>
              <a:gd name="adj" fmla="val 8000"/>
            </a:avLst>
          </a:prstGeom>
          <a:solidFill>
            <a:srgbClr val="162D4A"/>
          </a:solidFill>
          <a:ln/>
          <a:effectLst>
            <a:outerShdw sx="100000" sy="100000" kx="0" ky="0" algn="bl" rotWithShape="0" blurRad="127000" dist="38100" dir="2700000">
              <a:srgbClr val="000000">
                <a:alpha val="10000"/>
              </a:srgbClr>
            </a:outerShdw>
          </a:effectLst>
        </p:spPr>
      </p:sp>
      <p:sp>
        <p:nvSpPr>
          <p:cNvPr id="8" name="Text 6"/>
          <p:cNvSpPr/>
          <p:nvPr/>
        </p:nvSpPr>
        <p:spPr>
          <a:xfrm>
            <a:off x="502920" y="2121408"/>
            <a:ext cx="1645920" cy="320040"/>
          </a:xfrm>
          <a:prstGeom prst="rect">
            <a:avLst/>
          </a:prstGeom>
          <a:noFill/>
          <a:ln/>
        </p:spPr>
        <p:txBody>
          <a:bodyPr wrap="square" lIns="0" tIns="0" rIns="0" bIns="0" rtlCol="0" anchor="b"/>
          <a:lstStyle/>
          <a:p>
            <a:pPr indent="0" marL="0">
              <a:buNone/>
            </a:pPr>
            <a:r>
              <a:rPr lang="en-US" sz="1100" b="1" dirty="0">
                <a:solidFill>
                  <a:srgbClr val="06D6A0"/>
                </a:solidFill>
                <a:latin typeface="Cambria" pitchFamily="34" charset="0"/>
                <a:ea typeface="Cambria" pitchFamily="34" charset="-122"/>
                <a:cs typeface="Cambria" pitchFamily="34" charset="-120"/>
              </a:rPr>
              <a:t>Regulators (SEBI)</a:t>
            </a:r>
            <a:endParaRPr lang="en-US" sz="1100" dirty="0"/>
          </a:p>
        </p:txBody>
      </p:sp>
      <p:sp>
        <p:nvSpPr>
          <p:cNvPr id="9" name="Text 7"/>
          <p:cNvSpPr/>
          <p:nvPr/>
        </p:nvSpPr>
        <p:spPr>
          <a:xfrm>
            <a:off x="502920" y="2414016"/>
            <a:ext cx="8229600" cy="292608"/>
          </a:xfrm>
          <a:prstGeom prst="rect">
            <a:avLst/>
          </a:prstGeom>
          <a:noFill/>
          <a:ln/>
        </p:spPr>
        <p:txBody>
          <a:bodyPr wrap="square" lIns="0" tIns="0" rIns="0" bIns="0" rtlCol="0" anchor="t"/>
          <a:lstStyle/>
          <a:p>
            <a:pPr indent="0" marL="0">
              <a:buNone/>
            </a:pPr>
            <a:r>
              <a:rPr lang="en-US" sz="1000" dirty="0">
                <a:solidFill>
                  <a:srgbClr val="F0F4F8"/>
                </a:solidFill>
                <a:latin typeface="Calibri" pitchFamily="34" charset="0"/>
                <a:ea typeface="Calibri" pitchFamily="34" charset="-122"/>
                <a:cs typeface="Calibri" pitchFamily="34" charset="-120"/>
              </a:rPr>
              <a:t>Mandate a minimum quantification standard for BRSR disclosures — e.g., each material topic must include at least one time-bound, quantified KPI.</a:t>
            </a:r>
            <a:endParaRPr lang="en-US" sz="1000" dirty="0"/>
          </a:p>
        </p:txBody>
      </p:sp>
      <p:sp>
        <p:nvSpPr>
          <p:cNvPr id="10" name="Shape 8"/>
          <p:cNvSpPr/>
          <p:nvPr/>
        </p:nvSpPr>
        <p:spPr>
          <a:xfrm>
            <a:off x="320040" y="2871216"/>
            <a:ext cx="8503920" cy="685800"/>
          </a:xfrm>
          <a:prstGeom prst="rect">
            <a:avLst>
              <a:gd name="adj" fmla="val 8000"/>
            </a:avLst>
          </a:prstGeom>
          <a:solidFill>
            <a:srgbClr val="162D4A"/>
          </a:solidFill>
          <a:ln/>
          <a:effectLst>
            <a:outerShdw sx="100000" sy="100000" kx="0" ky="0" algn="bl" rotWithShape="0" blurRad="127000" dist="38100" dir="2700000">
              <a:srgbClr val="000000">
                <a:alpha val="10000"/>
              </a:srgbClr>
            </a:outerShdw>
          </a:effectLst>
        </p:spPr>
      </p:sp>
      <p:sp>
        <p:nvSpPr>
          <p:cNvPr id="11" name="Text 9"/>
          <p:cNvSpPr/>
          <p:nvPr/>
        </p:nvSpPr>
        <p:spPr>
          <a:xfrm>
            <a:off x="502920" y="2926080"/>
            <a:ext cx="1645920" cy="320040"/>
          </a:xfrm>
          <a:prstGeom prst="rect">
            <a:avLst/>
          </a:prstGeom>
          <a:noFill/>
          <a:ln/>
        </p:spPr>
        <p:txBody>
          <a:bodyPr wrap="square" lIns="0" tIns="0" rIns="0" bIns="0" rtlCol="0" anchor="b"/>
          <a:lstStyle/>
          <a:p>
            <a:pPr indent="0" marL="0">
              <a:buNone/>
            </a:pPr>
            <a:r>
              <a:rPr lang="en-US" sz="1100" b="1" dirty="0">
                <a:solidFill>
                  <a:srgbClr val="06D6A0"/>
                </a:solidFill>
                <a:latin typeface="Cambria" pitchFamily="34" charset="0"/>
                <a:ea typeface="Cambria" pitchFamily="34" charset="-122"/>
                <a:cs typeface="Cambria" pitchFamily="34" charset="-120"/>
              </a:rPr>
              <a:t>ESG Analysts</a:t>
            </a:r>
            <a:endParaRPr lang="en-US" sz="1100" dirty="0"/>
          </a:p>
        </p:txBody>
      </p:sp>
      <p:sp>
        <p:nvSpPr>
          <p:cNvPr id="12" name="Text 10"/>
          <p:cNvSpPr/>
          <p:nvPr/>
        </p:nvSpPr>
        <p:spPr>
          <a:xfrm>
            <a:off x="502920" y="3218688"/>
            <a:ext cx="8229600" cy="292608"/>
          </a:xfrm>
          <a:prstGeom prst="rect">
            <a:avLst/>
          </a:prstGeom>
          <a:noFill/>
          <a:ln/>
        </p:spPr>
        <p:txBody>
          <a:bodyPr wrap="square" lIns="0" tIns="0" rIns="0" bIns="0" rtlCol="0" anchor="t"/>
          <a:lstStyle/>
          <a:p>
            <a:pPr indent="0" marL="0">
              <a:buNone/>
            </a:pPr>
            <a:r>
              <a:rPr lang="en-US" sz="1000" dirty="0">
                <a:solidFill>
                  <a:srgbClr val="F0F4F8"/>
                </a:solidFill>
                <a:latin typeface="Calibri" pitchFamily="34" charset="0"/>
                <a:ea typeface="Calibri" pitchFamily="34" charset="-122"/>
                <a:cs typeface="Calibri" pitchFamily="34" charset="-120"/>
              </a:rPr>
              <a:t>Run this pipeline across the full top-100 BRSR filers (NSE public data) to produce a national benchmark. Update annually as BRSR Core assurance matures.</a:t>
            </a:r>
            <a:endParaRPr lang="en-US" sz="1000" dirty="0"/>
          </a:p>
        </p:txBody>
      </p:sp>
      <p:sp>
        <p:nvSpPr>
          <p:cNvPr id="13" name="Shape 11"/>
          <p:cNvSpPr/>
          <p:nvPr/>
        </p:nvSpPr>
        <p:spPr>
          <a:xfrm>
            <a:off x="320040" y="3675888"/>
            <a:ext cx="8503920" cy="685800"/>
          </a:xfrm>
          <a:prstGeom prst="rect">
            <a:avLst>
              <a:gd name="adj" fmla="val 8000"/>
            </a:avLst>
          </a:prstGeom>
          <a:solidFill>
            <a:srgbClr val="162D4A"/>
          </a:solidFill>
          <a:ln/>
          <a:effectLst>
            <a:outerShdw sx="100000" sy="100000" kx="0" ky="0" algn="bl" rotWithShape="0" blurRad="127000" dist="38100" dir="2700000">
              <a:srgbClr val="000000">
                <a:alpha val="10000"/>
              </a:srgbClr>
            </a:outerShdw>
          </a:effectLst>
        </p:spPr>
      </p:sp>
      <p:sp>
        <p:nvSpPr>
          <p:cNvPr id="14" name="Text 12"/>
          <p:cNvSpPr/>
          <p:nvPr/>
        </p:nvSpPr>
        <p:spPr>
          <a:xfrm>
            <a:off x="502920" y="3730752"/>
            <a:ext cx="1645920" cy="320040"/>
          </a:xfrm>
          <a:prstGeom prst="rect">
            <a:avLst/>
          </a:prstGeom>
          <a:noFill/>
          <a:ln/>
        </p:spPr>
        <p:txBody>
          <a:bodyPr wrap="square" lIns="0" tIns="0" rIns="0" bIns="0" rtlCol="0" anchor="b"/>
          <a:lstStyle/>
          <a:p>
            <a:pPr indent="0" marL="0">
              <a:buNone/>
            </a:pPr>
            <a:r>
              <a:rPr lang="en-US" sz="1100" b="1" dirty="0">
                <a:solidFill>
                  <a:srgbClr val="06D6A0"/>
                </a:solidFill>
                <a:latin typeface="Cambria" pitchFamily="34" charset="0"/>
                <a:ea typeface="Cambria" pitchFamily="34" charset="-122"/>
                <a:cs typeface="Cambria" pitchFamily="34" charset="-120"/>
              </a:rPr>
              <a:t>Researchers</a:t>
            </a:r>
            <a:endParaRPr lang="en-US" sz="1100" dirty="0"/>
          </a:p>
        </p:txBody>
      </p:sp>
      <p:sp>
        <p:nvSpPr>
          <p:cNvPr id="15" name="Text 13"/>
          <p:cNvSpPr/>
          <p:nvPr/>
        </p:nvSpPr>
        <p:spPr>
          <a:xfrm>
            <a:off x="502920" y="4023360"/>
            <a:ext cx="8229600" cy="292608"/>
          </a:xfrm>
          <a:prstGeom prst="rect">
            <a:avLst/>
          </a:prstGeom>
          <a:noFill/>
          <a:ln/>
        </p:spPr>
        <p:txBody>
          <a:bodyPr wrap="square" lIns="0" tIns="0" rIns="0" bIns="0" rtlCol="0" anchor="t"/>
          <a:lstStyle/>
          <a:p>
            <a:pPr indent="0" marL="0">
              <a:buNone/>
            </a:pPr>
            <a:r>
              <a:rPr lang="en-US" sz="1000" dirty="0">
                <a:solidFill>
                  <a:srgbClr val="F0F4F8"/>
                </a:solidFill>
                <a:latin typeface="Calibri" pitchFamily="34" charset="0"/>
                <a:ea typeface="Calibri" pitchFamily="34" charset="-122"/>
                <a:cs typeface="Calibri" pitchFamily="34" charset="-120"/>
              </a:rPr>
              <a:t>Cross-reference GRS scores with CDP India and MoEFCC emission data to test whether low-SR companies also underperform on actual metrics.</a:t>
            </a:r>
            <a:endParaRPr lang="en-US" sz="1000" dirty="0"/>
          </a:p>
        </p:txBody>
      </p:sp>
      <p:sp>
        <p:nvSpPr>
          <p:cNvPr id="16" name="Text 14"/>
          <p:cNvSpPr/>
          <p:nvPr/>
        </p:nvSpPr>
        <p:spPr>
          <a:xfrm>
            <a:off x="320040" y="4846320"/>
            <a:ext cx="8503920" cy="201168"/>
          </a:xfrm>
          <a:prstGeom prst="rect">
            <a:avLst/>
          </a:prstGeom>
          <a:noFill/>
          <a:ln/>
        </p:spPr>
        <p:txBody>
          <a:bodyPr wrap="square" lIns="0" tIns="0" rIns="0" bIns="0" rtlCol="0" anchor="ctr"/>
          <a:lstStyle/>
          <a:p>
            <a:pPr algn="ctr" indent="0" marL="0">
              <a:buNone/>
            </a:pPr>
            <a:r>
              <a:rPr lang="en-US" sz="800" dirty="0">
                <a:solidFill>
                  <a:srgbClr val="7B9BB8"/>
                </a:solidFill>
                <a:latin typeface="Calibri" pitchFamily="34" charset="0"/>
                <a:ea typeface="Calibri" pitchFamily="34" charset="-122"/>
                <a:cs typeface="Calibri" pitchFamily="34" charset="-120"/>
              </a:rPr>
              <a:t>github.com/[yourusername]/brsr-nlp-greenwashing  ·  All data public  ·  All code open source  ·  All methods documented</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BRSR Greenwashing Risk Screener</dc:title>
  <dc:subject>PptxGenJS Presentation</dc:subject>
  <dc:creator>[Your Name]</dc:creator>
  <cp:lastModifiedBy>[Your Name]</cp:lastModifiedBy>
  <cp:revision>1</cp:revision>
  <dcterms:created xsi:type="dcterms:W3CDTF">2026-06-28T15:34:33Z</dcterms:created>
  <dcterms:modified xsi:type="dcterms:W3CDTF">2026-06-28T15:34:33Z</dcterms:modified>
</cp:coreProperties>
</file>